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457200"/>
            <a:ext cx="2011680" cy="2011680"/>
          </a:xfrm>
          <a:prstGeom prst="ellipse">
            <a:avLst/>
          </a:prstGeom>
          <a:solidFill>
            <a:srgbClr val="0077B6">
              <a:alpha val="3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731520"/>
            <a:ext cx="1371600" cy="13716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3200400"/>
            <a:ext cx="2286000" cy="2286000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228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 ĐẠI HỌC BÌNH DƯƠNG – KHOA CNTT, ROBOT VÀ TTNT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74980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HỆ THỐNG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1353312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NHÀ TRỌ THÔNG MINH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74320" y="21945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Giám sát Cửa · Môi trường · Dashboard Quản lý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743200"/>
            <a:ext cx="41148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926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 thực hiện: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Minh Trí  –  MSSV: 21050007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32461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24TH01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3566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GVHD: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ThS. Dương Anh Tuấn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3886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Bình Dương, tháng 5 năm 2026 </a:t>
            </a:r>
            <a:pPr indent="0" marL="0">
              <a:buNone/>
            </a:pPr>
            <a:endParaRPr lang="en-US" sz="12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103120"/>
            <a:ext cx="822960" cy="822960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3108960"/>
            <a:ext cx="640080" cy="640080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384048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TRÌNH BÀY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1627632" cy="352044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1627632" cy="5029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44168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14447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 tổng quan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017520"/>
            <a:ext cx="144475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do chọn đề tài · Phát biểu bài toán · Kết quả cần đạt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93392" y="1280160"/>
            <a:ext cx="1627632" cy="352044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93392" y="1280160"/>
            <a:ext cx="1627632" cy="5029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2" name="Text 10"/>
          <p:cNvSpPr/>
          <p:nvPr/>
        </p:nvSpPr>
        <p:spPr>
          <a:xfrm>
            <a:off x="1993392" y="1344168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084832" y="1874520"/>
            <a:ext cx="14447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sở lý thuyết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84832" y="3017520"/>
            <a:ext cx="144475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 kiện IoT · Kiến trúc hệ thống · Công nghệ sử dụng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12464" y="1280160"/>
            <a:ext cx="1627632" cy="35204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12464" y="1280160"/>
            <a:ext cx="1627632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3712464" y="1344168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803904" y="1874520"/>
            <a:ext cx="14447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&amp; Thiết kế hệ thống ★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03904" y="3017520"/>
            <a:ext cx="144475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· Mô hình · Phần cứng · Giao diện · CSDL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31536" y="1280160"/>
            <a:ext cx="1627632" cy="352044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31536" y="1280160"/>
            <a:ext cx="1627632" cy="5029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2" name="Text 20"/>
          <p:cNvSpPr/>
          <p:nvPr/>
        </p:nvSpPr>
        <p:spPr>
          <a:xfrm>
            <a:off x="5431536" y="1344168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22976" y="1874520"/>
            <a:ext cx="14447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&amp; Thực nghiệm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22976" y="3017520"/>
            <a:ext cx="144475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· Đo lường · Xử lý ngoại lệ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50608" y="1280160"/>
            <a:ext cx="1627632" cy="352044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50608" y="1280160"/>
            <a:ext cx="1627632" cy="5029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7" name="Text 25"/>
          <p:cNvSpPr/>
          <p:nvPr/>
        </p:nvSpPr>
        <p:spPr>
          <a:xfrm>
            <a:off x="7150608" y="1344168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242048" y="1874520"/>
            <a:ext cx="14447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&amp; Hướng phát triển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42048" y="3017520"/>
            <a:ext cx="144475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· Hạn chế · Đề xuất mở rộng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 – GIỚI THIỆU TỔNG QUAN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14800" cy="361188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4114800" cy="4572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25272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DO CHỌN ĐỀ TÀI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80136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Đô thị hóa nhanh → nhu cầu nhà trọ tăng cao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276856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thủ công: khó kiểm soát an ninh, thiếu minh bạch điện – nước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752344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Chậm phát hiện sự cố môi trường (rò rỉ gas, nhiệt độ)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22783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cho phép kết nối thiết bị vào hệ thống tập trung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70332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hóa giám sát → nâng cao an toàn &amp; hiệu quả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234440"/>
            <a:ext cx="4251960" cy="361188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234440"/>
            <a:ext cx="425196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1252728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CỤ THỂ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1847088"/>
            <a:ext cx="347472" cy="347472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0016" y="1865376"/>
            <a:ext cx="274320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102352" y="1801368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Giám sát trạng thái cửa phòng (mở/đóng, RFID)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663440" y="2368296"/>
            <a:ext cx="347472" cy="347472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2386584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102352" y="2322576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nhiệt độ, độ ẩm, phát hiện rò rỉ khí gas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663440" y="2889504"/>
            <a:ext cx="347472" cy="347472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16" y="2907792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102352" y="2843784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&amp; ghi nhận điện năng tiêu thụ (PZEM-004T)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663440" y="3410712"/>
            <a:ext cx="347472" cy="347472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3429000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102352" y="336499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lưu lượng nước (YF-S201)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663440" y="3931920"/>
            <a:ext cx="347472" cy="347472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016" y="3950208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102352" y="388620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giám sát theo vai trò chủ nhà / khách thuê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2 – CƠ SỞ LÝ THUYẾT &amp; LINH KIỆN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" y="1234440"/>
            <a:ext cx="2057400" cy="169164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234440"/>
            <a:ext cx="2057400" cy="475488"/>
          </a:xfrm>
          <a:prstGeom prst="rect">
            <a:avLst/>
          </a:prstGeom>
          <a:solidFill>
            <a:srgbClr val="0077B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30759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1728216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ESP8266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46888" y="2112264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điều khiển WiFi chính – xử lý &amp; truyền dữ liệu IoT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377440" y="1234440"/>
            <a:ext cx="2057400" cy="169164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377440" y="1234440"/>
            <a:ext cx="2057400" cy="475488"/>
          </a:xfrm>
          <a:prstGeom prst="rect">
            <a:avLst/>
          </a:prstGeom>
          <a:solidFill>
            <a:srgbClr val="E85D0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307592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423160" y="1728216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PZEM-004T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441448" y="2112264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điện áp, dòng điện, công suất &amp; điện năng AC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572000" y="1234440"/>
            <a:ext cx="2057400" cy="169164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0" y="1234440"/>
            <a:ext cx="2057400" cy="475488"/>
          </a:xfrm>
          <a:prstGeom prst="rect">
            <a:avLst/>
          </a:prstGeom>
          <a:solidFill>
            <a:srgbClr val="D6282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307592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617720" y="1728216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 Gas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636008" y="2112264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biến phát hiện khí gas rò rỉ &amp; khói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6766560" y="1234440"/>
            <a:ext cx="2057400" cy="169164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766560" y="1234440"/>
            <a:ext cx="2057400" cy="475488"/>
          </a:xfrm>
          <a:prstGeom prst="rect">
            <a:avLst/>
          </a:prstGeom>
          <a:solidFill>
            <a:srgbClr val="38B00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307592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12280" y="1728216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830568" y="2112264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nhiệt độ và độ ẩm trong phòng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182880" y="3063240"/>
            <a:ext cx="2057400" cy="169164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82880" y="3063240"/>
            <a:ext cx="2057400" cy="475488"/>
          </a:xfrm>
          <a:prstGeom prst="rect">
            <a:avLst/>
          </a:prstGeom>
          <a:solidFill>
            <a:srgbClr val="0096C7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136392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228600" y="3557016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YF-S401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246888" y="3941064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biến lưu lượng nước – đếm xung từ turbine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2377440" y="3063240"/>
            <a:ext cx="2057400" cy="169164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2377440" y="3063240"/>
            <a:ext cx="2057400" cy="475488"/>
          </a:xfrm>
          <a:prstGeom prst="rect">
            <a:avLst/>
          </a:prstGeom>
          <a:solidFill>
            <a:srgbClr val="7B2D8B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3136392"/>
            <a:ext cx="329184" cy="32918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2423160" y="3557016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RC522 RFID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2441448" y="3941064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thẻ từ để xác thực và mở khóa cửa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4572000" y="3063240"/>
            <a:ext cx="2057400" cy="169164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4572000" y="3063240"/>
            <a:ext cx="2057400" cy="475488"/>
          </a:xfrm>
          <a:prstGeom prst="rect">
            <a:avLst/>
          </a:prstGeom>
          <a:solidFill>
            <a:srgbClr val="F4A261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4960" y="3136392"/>
            <a:ext cx="329184" cy="32918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4617720" y="3557016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4636008" y="3941064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biến siêu âm đo mực nước tự động bơm</a:t>
            </a:r>
            <a:endParaRPr lang="en-US" sz="900" dirty="0"/>
          </a:p>
        </p:txBody>
      </p:sp>
      <p:sp>
        <p:nvSpPr>
          <p:cNvPr id="40" name="Shape 31"/>
          <p:cNvSpPr/>
          <p:nvPr/>
        </p:nvSpPr>
        <p:spPr>
          <a:xfrm>
            <a:off x="6766560" y="3063240"/>
            <a:ext cx="2057400" cy="169164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6766560" y="3063240"/>
            <a:ext cx="2057400" cy="475488"/>
          </a:xfrm>
          <a:prstGeom prst="rect">
            <a:avLst/>
          </a:prstGeom>
          <a:solidFill>
            <a:srgbClr val="2B9348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9520" y="3136392"/>
            <a:ext cx="329184" cy="329184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6812280" y="3557016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Module</a:t>
            </a:r>
            <a:endParaRPr lang="en-US" sz="1200" dirty="0"/>
          </a:p>
        </p:txBody>
      </p:sp>
      <p:sp>
        <p:nvSpPr>
          <p:cNvPr id="44" name="Text 34"/>
          <p:cNvSpPr/>
          <p:nvPr/>
        </p:nvSpPr>
        <p:spPr>
          <a:xfrm>
            <a:off x="6830568" y="3941064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khiển đóng/mở thiết bị điện &amp; motor bơm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2743200"/>
            <a:ext cx="2743200" cy="2743200"/>
          </a:xfrm>
          <a:prstGeom prst="ellipse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&amp;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HỆ THỐNG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45720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 · Use Case · Kiến trúc · Phần cứng · Giao diện · CSDL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– YÊU CẦU HỆ THỐNG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1188720"/>
            <a:ext cx="5074920" cy="361188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188720"/>
            <a:ext cx="5074920" cy="475488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207008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 CHỨC NĂNG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10512"/>
            <a:ext cx="329184" cy="329184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" y="182880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175564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cửa thông minh – 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trạng thái mở/đóng, lịch sử RFID, cảnh báo đột nhập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4320" y="2313432"/>
            <a:ext cx="329184" cy="329184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23317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5800" y="225856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môi trường – 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nhiệt độ/độ ẩm (DHT11), phát hiện gas (MQ-2), buzzer cảnh báo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74320" y="2816352"/>
            <a:ext cx="329184" cy="329184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283464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5800" y="276148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điện – nước – 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điện năng PZEM-004T, lưu lượng nước YF-S401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274320" y="3319272"/>
            <a:ext cx="329184" cy="329184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" y="333756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5800" y="32644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hóa đơn – 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tính tiền điện (3.500đ/kWh), nước (15.000đ/m³)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274320" y="3822192"/>
            <a:ext cx="329184" cy="329184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52" y="384048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85800" y="376732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theo vai trò – 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riêng cho chủ nhà &amp; khách thuê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5440680" y="1188720"/>
            <a:ext cx="3520440" cy="36118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5440680" y="1188720"/>
            <a:ext cx="3520440" cy="4754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18"/>
          <p:cNvSpPr/>
          <p:nvPr/>
        </p:nvSpPr>
        <p:spPr>
          <a:xfrm>
            <a:off x="5486400" y="120700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 PHI CHỨC NĂNG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5532120" y="178308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Hiệu năng
</a:t>
            </a:r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cập nhật 2–5 giây, trễ tối đa &lt; 3s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5532120" y="233172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Bảo mật
</a:t>
            </a:r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thực session/token đăng nhập người dùng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532120" y="288036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Dễ dùng
</a:t>
            </a:r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trực quan, tương thích Web &amp; Mobile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532120" y="34290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Ổn định
</a:t>
            </a:r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phòng offline, điều khiển tại chỗ khi mất mạng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5532120" y="397764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Mở rộng
</a:t>
            </a:r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module, dễ thêm phòng &amp; cảm biến mới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– SƠ ĐỒ USE CASE VÀ TÁC NHÂN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0" y="1188720"/>
            <a:ext cx="6217920" cy="3749040"/>
          </a:xfrm>
          <a:prstGeom prst="rect">
            <a:avLst/>
          </a:prstGeom>
          <a:solidFill>
            <a:srgbClr val="F8FBFF"/>
          </a:solidFill>
          <a:ln w="25400">
            <a:solidFill>
              <a:srgbClr val="00B4D8"/>
            </a:solidFill>
            <a:prstDash val="dash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377440" y="120700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Nhà Trọ Thông Minh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0" y="1737360"/>
            <a:ext cx="1828800" cy="713232"/>
          </a:xfrm>
          <a:prstGeom prst="ellipse">
            <a:avLst/>
          </a:prstGeom>
          <a:solidFill>
            <a:srgbClr val="0077B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0" y="1755648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 hệ thống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54880" y="1737360"/>
            <a:ext cx="1828800" cy="713232"/>
          </a:xfrm>
          <a:prstGeom prst="ellipse">
            <a:avLst/>
          </a:prstGeom>
          <a:solidFill>
            <a:srgbClr val="0077B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755648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Dashboard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858000" y="1737360"/>
            <a:ext cx="1463040" cy="713232"/>
          </a:xfrm>
          <a:prstGeom prst="ellipse">
            <a:avLst/>
          </a:prstGeom>
          <a:solidFill>
            <a:srgbClr val="38B00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0" y="1755648"/>
            <a:ext cx="14630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Giám sát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nhiệt độ / ẩm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0" y="2743200"/>
            <a:ext cx="1828800" cy="713232"/>
          </a:xfrm>
          <a:prstGeom prst="ellipse">
            <a:avLst/>
          </a:prstGeom>
          <a:solidFill>
            <a:srgbClr val="D6282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0" y="2761488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Giám sát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khí gas + Cảnh báo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54880" y="2743200"/>
            <a:ext cx="1828800" cy="713232"/>
          </a:xfrm>
          <a:prstGeom prst="ellipse">
            <a:avLst/>
          </a:prstGeom>
          <a:solidFill>
            <a:srgbClr val="E85D0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2761488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Giám sát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điện – nước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58000" y="2743200"/>
            <a:ext cx="1463040" cy="713232"/>
          </a:xfrm>
          <a:prstGeom prst="ellipse">
            <a:avLst/>
          </a:prstGeom>
          <a:solidFill>
            <a:srgbClr val="7B2D8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0" y="2761488"/>
            <a:ext cx="14630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RFID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cửa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0" y="3749040"/>
            <a:ext cx="1828800" cy="713232"/>
          </a:xfrm>
          <a:prstGeom prst="ellipse">
            <a:avLst/>
          </a:prstGeom>
          <a:solidFill>
            <a:srgbClr val="0077B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0" y="3767328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hóa đơn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lịch sử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3749040"/>
            <a:ext cx="1828800" cy="713232"/>
          </a:xfrm>
          <a:prstGeom prst="ellipse">
            <a:avLst/>
          </a:prstGeom>
          <a:solidFill>
            <a:srgbClr val="0077B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767328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 đồ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 kê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58000" y="3749040"/>
            <a:ext cx="1463040" cy="713232"/>
          </a:xfrm>
          <a:prstGeom prst="ellipse">
            <a:avLst/>
          </a:prstGeom>
          <a:solidFill>
            <a:srgbClr val="D6282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58000" y="3767328"/>
            <a:ext cx="14630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đột nhập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1440" y="2103120"/>
            <a:ext cx="502920" cy="50292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2606040"/>
            <a:ext cx="137160" cy="7315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7" name="Shape 25"/>
          <p:cNvSpPr/>
          <p:nvPr/>
        </p:nvSpPr>
        <p:spPr>
          <a:xfrm>
            <a:off x="91440" y="2834640"/>
            <a:ext cx="502920" cy="0"/>
          </a:xfrm>
          <a:prstGeom prst="line">
            <a:avLst/>
          </a:prstGeom>
          <a:noFill/>
          <a:ln w="25400">
            <a:solidFill>
              <a:srgbClr val="0077B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337560"/>
            <a:ext cx="-137160" cy="365760"/>
          </a:xfrm>
          <a:prstGeom prst="line">
            <a:avLst/>
          </a:prstGeom>
          <a:noFill/>
          <a:ln w="25400">
            <a:solidFill>
              <a:srgbClr val="0077B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3337560"/>
            <a:ext cx="137160" cy="365760"/>
          </a:xfrm>
          <a:prstGeom prst="line">
            <a:avLst/>
          </a:prstGeom>
          <a:noFill/>
          <a:ln w="25400">
            <a:solidFill>
              <a:srgbClr val="0077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-91440" y="374904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 nhà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trọ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4360" y="2834640"/>
            <a:ext cx="16916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440" y="1325880"/>
            <a:ext cx="502920" cy="502920"/>
          </a:xfrm>
          <a:prstGeom prst="ellipse">
            <a:avLst/>
          </a:prstGeom>
          <a:solidFill>
            <a:srgbClr val="7B2D8B"/>
          </a:solidFill>
          <a:ln/>
        </p:spPr>
      </p:sp>
      <p:sp>
        <p:nvSpPr>
          <p:cNvPr id="33" name="Shape 31"/>
          <p:cNvSpPr/>
          <p:nvPr/>
        </p:nvSpPr>
        <p:spPr>
          <a:xfrm>
            <a:off x="274320" y="1828800"/>
            <a:ext cx="137160" cy="64008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34" name="Shape 32"/>
          <p:cNvSpPr/>
          <p:nvPr/>
        </p:nvSpPr>
        <p:spPr>
          <a:xfrm>
            <a:off x="91440" y="2057400"/>
            <a:ext cx="502920" cy="0"/>
          </a:xfrm>
          <a:prstGeom prst="line">
            <a:avLst/>
          </a:prstGeom>
          <a:noFill/>
          <a:ln w="25400">
            <a:solidFill>
              <a:srgbClr val="7B2D8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2468880"/>
            <a:ext cx="-137160" cy="320040"/>
          </a:xfrm>
          <a:prstGeom prst="line">
            <a:avLst/>
          </a:prstGeom>
          <a:noFill/>
          <a:ln w="25400">
            <a:solidFill>
              <a:srgbClr val="7B2D8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" y="2468880"/>
            <a:ext cx="137160" cy="320040"/>
          </a:xfrm>
          <a:prstGeom prst="line">
            <a:avLst/>
          </a:prstGeom>
          <a:noFill/>
          <a:ln w="25400">
            <a:solidFill>
              <a:srgbClr val="7B2D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-91440" y="283464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thuê trọ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94360" y="2011680"/>
            <a:ext cx="16916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– MÔ HÌNH KIẾN TRÚC HỆ THỐNG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1280160"/>
            <a:ext cx="1664208" cy="352044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280160"/>
            <a:ext cx="1664208" cy="502920"/>
          </a:xfrm>
          <a:prstGeom prst="rect">
            <a:avLst/>
          </a:prstGeom>
          <a:solidFill>
            <a:srgbClr val="2B934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3716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" y="1847088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9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28600" y="224028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THIẾT BỊ IoT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46888" y="3063240"/>
            <a:ext cx="153619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ESP8266 · Cảm biến · Relay · RFID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856232" y="2834640"/>
            <a:ext cx="109728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9"/>
          <p:cNvSpPr/>
          <p:nvPr/>
        </p:nvSpPr>
        <p:spPr>
          <a:xfrm>
            <a:off x="1847088" y="2697480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975104" y="1280160"/>
            <a:ext cx="1664208" cy="352044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975104" y="1280160"/>
            <a:ext cx="1664208" cy="502920"/>
          </a:xfrm>
          <a:prstGeom prst="rect">
            <a:avLst/>
          </a:prstGeom>
          <a:solidFill>
            <a:srgbClr val="0077B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328" y="137160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975104" y="1847088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2020824" y="224028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TRUYỀN THÔNG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2039112" y="3063240"/>
            <a:ext cx="153619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· HTTP/REST · Modbus RTU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3648456" y="2834640"/>
            <a:ext cx="109728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6"/>
          <p:cNvSpPr/>
          <p:nvPr/>
        </p:nvSpPr>
        <p:spPr>
          <a:xfrm>
            <a:off x="3639312" y="2697480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3767328" y="1280160"/>
            <a:ext cx="1664208" cy="352044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767328" y="1280160"/>
            <a:ext cx="1664208" cy="502920"/>
          </a:xfrm>
          <a:prstGeom prst="rect">
            <a:avLst/>
          </a:prstGeom>
          <a:solidFill>
            <a:srgbClr val="7B2D8B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552" y="1371600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767328" y="1847088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3813048" y="224028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BACKEND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3831336" y="3063240"/>
            <a:ext cx="153619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Python · Business Logic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5440680" y="2834640"/>
            <a:ext cx="109728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8" name="Text 23"/>
          <p:cNvSpPr/>
          <p:nvPr/>
        </p:nvSpPr>
        <p:spPr>
          <a:xfrm>
            <a:off x="5431536" y="2697480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5559552" y="1280160"/>
            <a:ext cx="1664208" cy="352044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559552" y="1280160"/>
            <a:ext cx="1664208" cy="502920"/>
          </a:xfrm>
          <a:prstGeom prst="rect">
            <a:avLst/>
          </a:prstGeom>
          <a:solidFill>
            <a:srgbClr val="E85D04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776" y="1371600"/>
            <a:ext cx="365760" cy="36576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559552" y="1847088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3" name="Text 27"/>
          <p:cNvSpPr/>
          <p:nvPr/>
        </p:nvSpPr>
        <p:spPr>
          <a:xfrm>
            <a:off x="5605272" y="224028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CƠ SỞ DỮ LIỆU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5623560" y="3063240"/>
            <a:ext cx="153619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users · rooms · sensor_data · billing</a:t>
            </a:r>
            <a:endParaRPr lang="en-US" sz="850" dirty="0"/>
          </a:p>
        </p:txBody>
      </p:sp>
      <p:sp>
        <p:nvSpPr>
          <p:cNvPr id="35" name="Shape 29"/>
          <p:cNvSpPr/>
          <p:nvPr/>
        </p:nvSpPr>
        <p:spPr>
          <a:xfrm>
            <a:off x="7232904" y="2834640"/>
            <a:ext cx="109728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6" name="Text 30"/>
          <p:cNvSpPr/>
          <p:nvPr/>
        </p:nvSpPr>
        <p:spPr>
          <a:xfrm>
            <a:off x="7223760" y="2697480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→</a:t>
            </a:r>
            <a:endParaRPr lang="en-US" sz="1400" dirty="0"/>
          </a:p>
        </p:txBody>
      </p:sp>
      <p:sp>
        <p:nvSpPr>
          <p:cNvPr id="37" name="Shape 31"/>
          <p:cNvSpPr/>
          <p:nvPr/>
        </p:nvSpPr>
        <p:spPr>
          <a:xfrm>
            <a:off x="7351776" y="1280160"/>
            <a:ext cx="1664208" cy="352044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7351776" y="1280160"/>
            <a:ext cx="1664208" cy="50292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1371600"/>
            <a:ext cx="365760" cy="36576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7351776" y="1847088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41" name="Text 34"/>
          <p:cNvSpPr/>
          <p:nvPr/>
        </p:nvSpPr>
        <p:spPr>
          <a:xfrm>
            <a:off x="7397496" y="224028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GIAO DIỆN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7415784" y="3063240"/>
            <a:ext cx="153619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· Web Browser · Mobile</a:t>
            </a:r>
            <a:endParaRPr lang="en-US" sz="850" dirty="0"/>
          </a:p>
        </p:txBody>
      </p:sp>
      <p:sp>
        <p:nvSpPr>
          <p:cNvPr id="43" name="Text 36"/>
          <p:cNvSpPr/>
          <p:nvPr/>
        </p:nvSpPr>
        <p:spPr>
          <a:xfrm>
            <a:off x="182880" y="47548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dữ liệu: Cảm biến → ESP8266 → FastAPI → MySQL → Streamlit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– USE CASE CHI TIẾT TRỌNG TÂM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1170432"/>
            <a:ext cx="2852928" cy="384048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170432"/>
            <a:ext cx="2852928" cy="548640"/>
          </a:xfrm>
          <a:prstGeom prst="rect">
            <a:avLst/>
          </a:prstGeom>
          <a:solidFill>
            <a:srgbClr val="7B2D8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6187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126187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thẻ RFID mở cửa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4320" y="179222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 nhân: Khách thuê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74320" y="21031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chính: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" y="235915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Đưa thẻ vào RC522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74320" y="27614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ESP8266 đọc UID thẻ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316382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UID hợp lệ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74320" y="3566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kích hoạt mở cửa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74320" y="396849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log lịch sử truy cập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74320" y="4416552"/>
            <a:ext cx="2651760" cy="502920"/>
          </a:xfrm>
          <a:prstGeom prst="rect">
            <a:avLst/>
          </a:prstGeom>
          <a:solidFill>
            <a:srgbClr val="7B2D8B">
              <a:alpha val="15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320040" y="4434840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Ngoại lệ: </a:t>
            </a:r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 không hợp lệ → Từ chối + Cảnh báo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172968" y="1170432"/>
            <a:ext cx="2852928" cy="384048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172968" y="1170432"/>
            <a:ext cx="2852928" cy="548640"/>
          </a:xfrm>
          <a:prstGeom prst="rect">
            <a:avLst/>
          </a:prstGeom>
          <a:solidFill>
            <a:srgbClr val="D62828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261872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75888" y="126187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rò rỉ khí gas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3264408" y="179222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 nhân: Chủ nhà &amp; Khách thuê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3264408" y="21031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chính: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3264408" y="235915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 đọc nồng độ gas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3264408" y="27614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 lên FastAPI → MySQL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3264408" y="316382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với ngưỡng (&gt;400)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3264408" y="3566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Thực tế &gt; Dự báo × 1.5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3264408" y="396849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Kích buzzer + cảnh báo Dashboard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3264408" y="4416552"/>
            <a:ext cx="2651760" cy="502920"/>
          </a:xfrm>
          <a:prstGeom prst="rect">
            <a:avLst/>
          </a:prstGeom>
          <a:solidFill>
            <a:srgbClr val="D62828">
              <a:alpha val="15000"/>
            </a:srgbClr>
          </a:solidFill>
          <a:ln/>
        </p:spPr>
      </p:sp>
      <p:sp>
        <p:nvSpPr>
          <p:cNvPr id="30" name="Text 26"/>
          <p:cNvSpPr/>
          <p:nvPr/>
        </p:nvSpPr>
        <p:spPr>
          <a:xfrm>
            <a:off x="3310128" y="4434840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Ngoại lệ: </a:t>
            </a:r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bình thường → NORMAL status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6163056" y="1170432"/>
            <a:ext cx="2852928" cy="384048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6163056" y="1170432"/>
            <a:ext cx="2852928" cy="548640"/>
          </a:xfrm>
          <a:prstGeom prst="rect">
            <a:avLst/>
          </a:prstGeom>
          <a:solidFill>
            <a:srgbClr val="E85D04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261872"/>
            <a:ext cx="365760" cy="36576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665976" y="126187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Giám sát điện năng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6254496" y="179222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 nhân: Chủ nhà &amp; Khách thuê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6254496" y="21031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chính: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6254496" y="235915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PZEM-004T đo điện áp/dòng/công suất</a:t>
            </a:r>
            <a:endParaRPr lang="en-US" sz="950" dirty="0"/>
          </a:p>
        </p:txBody>
      </p:sp>
      <p:sp>
        <p:nvSpPr>
          <p:cNvPr id="38" name="Text 33"/>
          <p:cNvSpPr/>
          <p:nvPr/>
        </p:nvSpPr>
        <p:spPr>
          <a:xfrm>
            <a:off x="6254496" y="27614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ESP8266 gửi HTTP POST → FastAPI</a:t>
            </a:r>
            <a:endParaRPr lang="en-US" sz="950" dirty="0"/>
          </a:p>
        </p:txBody>
      </p:sp>
      <p:sp>
        <p:nvSpPr>
          <p:cNvPr id="39" name="Text 34"/>
          <p:cNvSpPr/>
          <p:nvPr/>
        </p:nvSpPr>
        <p:spPr>
          <a:xfrm>
            <a:off x="6254496" y="316382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lưu sensor_data</a:t>
            </a:r>
            <a:endParaRPr lang="en-US" sz="950" dirty="0"/>
          </a:p>
        </p:txBody>
      </p:sp>
      <p:sp>
        <p:nvSpPr>
          <p:cNvPr id="40" name="Text 35"/>
          <p:cNvSpPr/>
          <p:nvPr/>
        </p:nvSpPr>
        <p:spPr>
          <a:xfrm>
            <a:off x="6254496" y="3566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query realtime</a:t>
            </a:r>
            <a:endParaRPr lang="en-US" sz="950" dirty="0"/>
          </a:p>
        </p:txBody>
      </p:sp>
      <p:sp>
        <p:nvSpPr>
          <p:cNvPr id="41" name="Text 36"/>
          <p:cNvSpPr/>
          <p:nvPr/>
        </p:nvSpPr>
        <p:spPr>
          <a:xfrm>
            <a:off x="6254496" y="396849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hiển thị biểu đồ kWh</a:t>
            </a:r>
            <a:endParaRPr lang="en-US" sz="950" dirty="0"/>
          </a:p>
        </p:txBody>
      </p:sp>
      <p:sp>
        <p:nvSpPr>
          <p:cNvPr id="42" name="Shape 37"/>
          <p:cNvSpPr/>
          <p:nvPr/>
        </p:nvSpPr>
        <p:spPr>
          <a:xfrm>
            <a:off x="6254496" y="4416552"/>
            <a:ext cx="2651760" cy="502920"/>
          </a:xfrm>
          <a:prstGeom prst="rect">
            <a:avLst/>
          </a:prstGeom>
          <a:solidFill>
            <a:srgbClr val="E85D04">
              <a:alpha val="15000"/>
            </a:srgbClr>
          </a:solidFill>
          <a:ln/>
        </p:spPr>
      </p:sp>
      <p:sp>
        <p:nvSpPr>
          <p:cNvPr id="43" name="Text 38"/>
          <p:cNvSpPr/>
          <p:nvPr/>
        </p:nvSpPr>
        <p:spPr>
          <a:xfrm>
            <a:off x="6300216" y="4434840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Ngoại lệ: </a:t>
            </a:r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PZEM lỗi → Hiển thị Sensor Error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– CƠ SỞ TOÁN HỌC &amp; MÔ HÌNH AI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1188720"/>
            <a:ext cx="4572000" cy="1170432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188720"/>
            <a:ext cx="64008" cy="1170432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243584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Lưu Lượng Nước (YF-S401)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55448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Flow Rate = Pulses/sec ÷ 7.5  (lít/phút)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1819656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Tổng nước = Σ Flow × Δt  (lít)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208483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Giao tiếp: đếm xung ngắt GPIO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" y="2468880"/>
            <a:ext cx="4572000" cy="1170432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2468880"/>
            <a:ext cx="64008" cy="1170432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" y="2523744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Điện Năng (PZEM-004T)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" y="283464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 (W) = V (volt) × I (ampe) × PF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" y="3099816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 (kWh) = Σ P × Δt  (điện năng tích lũy)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36499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Giao tiếp: Modbus RTU qua UART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" y="3749040"/>
            <a:ext cx="4572000" cy="1170432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2880" y="3749040"/>
            <a:ext cx="64008" cy="1170432"/>
          </a:xfrm>
          <a:prstGeom prst="rect">
            <a:avLst/>
          </a:prstGeom>
          <a:solidFill>
            <a:srgbClr val="2B9348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3803904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9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Chi Phí Hóa Đơn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" y="411480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Tiền điện = ΔE (kWh) × 3.500 VNĐ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472" y="4379976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Tiền nước = ΔW (m³) × 15.000 VNĐ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7472" y="464515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Tổng = Tiền điện + Tiền nước + Tiền phòng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37760" y="1188720"/>
            <a:ext cx="3977640" cy="36118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37760" y="1188720"/>
            <a:ext cx="3977640" cy="4754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120700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AI – DỰ BÁO KHÍ GAS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0" y="178308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 toán: </a:t>
            </a:r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(scikit-learn)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0" y="226771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vào (X): </a:t>
            </a:r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Nhiệt độ (°C) + Độ ẩm (%)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0" y="2752344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ra (ŷ): </a:t>
            </a:r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Nồng độ gas dự báo (ADC value)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0" y="3236976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Ngưỡng cảnh báo: </a:t>
            </a:r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tế &gt; Dự báo × 1.5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372160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Mode: </a:t>
            </a:r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 bản ghi → dùng ngưỡng cố định (400)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420624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Retrain: </a:t>
            </a:r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cập nhật model khi có dữ liệu mới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0" y="4480560"/>
            <a:ext cx="3749040" cy="320040"/>
          </a:xfrm>
          <a:prstGeom prst="rect">
            <a:avLst/>
          </a:prstGeom>
          <a:solidFill>
            <a:srgbClr val="1A3A2A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4480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β₀ + β₁·Temp + β₂·Humidity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– SƠ ĐỒ KẾT NỐI PHẦN CỨNG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0" y="2011680"/>
            <a:ext cx="2194560" cy="10972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5968" y="2103120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520440" y="262432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ESP8266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NodeMCU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37160" y="1371600"/>
            <a:ext cx="1600200" cy="96012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37160" y="1371600"/>
            <a:ext cx="1600200" cy="347472"/>
          </a:xfrm>
          <a:prstGeom prst="rect">
            <a:avLst/>
          </a:prstGeom>
          <a:solidFill>
            <a:srgbClr val="38B00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417320"/>
            <a:ext cx="34747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2880" y="1737360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Nhiệt độ / Ẩm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137160" y="2176272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GPIO2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137160" y="3200400"/>
            <a:ext cx="1600200" cy="96012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137160" y="3200400"/>
            <a:ext cx="1600200" cy="347472"/>
          </a:xfrm>
          <a:prstGeom prst="rect">
            <a:avLst/>
          </a:prstGeom>
          <a:solidFill>
            <a:srgbClr val="D6282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246120"/>
            <a:ext cx="34747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2880" y="3566160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Khí Gas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137160" y="4005072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</a:t>
            </a:r>
            <a:endParaRPr lang="en-US" sz="750" dirty="0"/>
          </a:p>
        </p:txBody>
      </p:sp>
      <p:sp>
        <p:nvSpPr>
          <p:cNvPr id="18" name="Shape 13"/>
          <p:cNvSpPr/>
          <p:nvPr/>
        </p:nvSpPr>
        <p:spPr>
          <a:xfrm>
            <a:off x="1828800" y="1143000"/>
            <a:ext cx="1600200" cy="96012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828800" y="1143000"/>
            <a:ext cx="1600200" cy="347472"/>
          </a:xfrm>
          <a:prstGeom prst="rect">
            <a:avLst/>
          </a:prstGeom>
          <a:solidFill>
            <a:srgbClr val="E85D04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0592" y="1188720"/>
            <a:ext cx="34747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874520" y="1508760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PZEM-004T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Điện năng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1828800" y="1947672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</a:t>
            </a:r>
            <a:endParaRPr lang="en-US" sz="750" dirty="0"/>
          </a:p>
        </p:txBody>
      </p:sp>
      <p:sp>
        <p:nvSpPr>
          <p:cNvPr id="23" name="Shape 17"/>
          <p:cNvSpPr/>
          <p:nvPr/>
        </p:nvSpPr>
        <p:spPr>
          <a:xfrm>
            <a:off x="1828800" y="3429000"/>
            <a:ext cx="1600200" cy="96012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1828800" y="3429000"/>
            <a:ext cx="1600200" cy="347472"/>
          </a:xfrm>
          <a:prstGeom prst="rect">
            <a:avLst/>
          </a:prstGeom>
          <a:solidFill>
            <a:srgbClr val="0096C7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0592" y="3474720"/>
            <a:ext cx="34747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874520" y="3794760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YF-S401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lượng nước</a:t>
            </a:r>
            <a:endParaRPr lang="en-US" sz="850" dirty="0"/>
          </a:p>
        </p:txBody>
      </p:sp>
      <p:sp>
        <p:nvSpPr>
          <p:cNvPr id="27" name="Text 20"/>
          <p:cNvSpPr/>
          <p:nvPr/>
        </p:nvSpPr>
        <p:spPr>
          <a:xfrm>
            <a:off x="1828800" y="4233672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GPIO12</a:t>
            </a:r>
            <a:endParaRPr lang="en-US" sz="750" dirty="0"/>
          </a:p>
        </p:txBody>
      </p:sp>
      <p:sp>
        <p:nvSpPr>
          <p:cNvPr id="28" name="Shape 21"/>
          <p:cNvSpPr/>
          <p:nvPr/>
        </p:nvSpPr>
        <p:spPr>
          <a:xfrm>
            <a:off x="7132320" y="1143000"/>
            <a:ext cx="1600200" cy="96012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7132320" y="1143000"/>
            <a:ext cx="1600200" cy="347472"/>
          </a:xfrm>
          <a:prstGeom prst="rect">
            <a:avLst/>
          </a:prstGeom>
          <a:solidFill>
            <a:srgbClr val="7B2D8B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4112" y="1188720"/>
            <a:ext cx="347472" cy="25603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178040" y="1508760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RC522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</a:t>
            </a:r>
            <a:endParaRPr lang="en-US" sz="850" dirty="0"/>
          </a:p>
        </p:txBody>
      </p:sp>
      <p:sp>
        <p:nvSpPr>
          <p:cNvPr id="32" name="Text 24"/>
          <p:cNvSpPr/>
          <p:nvPr/>
        </p:nvSpPr>
        <p:spPr>
          <a:xfrm>
            <a:off x="7132320" y="1947672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</a:t>
            </a:r>
            <a:endParaRPr lang="en-US" sz="750" dirty="0"/>
          </a:p>
        </p:txBody>
      </p:sp>
      <p:sp>
        <p:nvSpPr>
          <p:cNvPr id="33" name="Shape 25"/>
          <p:cNvSpPr/>
          <p:nvPr/>
        </p:nvSpPr>
        <p:spPr>
          <a:xfrm>
            <a:off x="7132320" y="3429000"/>
            <a:ext cx="1600200" cy="96012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7132320" y="3429000"/>
            <a:ext cx="1600200" cy="347472"/>
          </a:xfrm>
          <a:prstGeom prst="rect">
            <a:avLst/>
          </a:prstGeom>
          <a:solidFill>
            <a:srgbClr val="2B9348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4112" y="3474720"/>
            <a:ext cx="347472" cy="256032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178040" y="3794760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850" dirty="0"/>
          </a:p>
        </p:txBody>
      </p:sp>
      <p:sp>
        <p:nvSpPr>
          <p:cNvPr id="37" name="Text 28"/>
          <p:cNvSpPr/>
          <p:nvPr/>
        </p:nvSpPr>
        <p:spPr>
          <a:xfrm>
            <a:off x="7132320" y="4233672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GPIO5</a:t>
            </a:r>
            <a:endParaRPr lang="en-US" sz="750" dirty="0"/>
          </a:p>
        </p:txBody>
      </p:sp>
      <p:sp>
        <p:nvSpPr>
          <p:cNvPr id="38" name="Shape 29"/>
          <p:cNvSpPr/>
          <p:nvPr/>
        </p:nvSpPr>
        <p:spPr>
          <a:xfrm>
            <a:off x="5486400" y="1143000"/>
            <a:ext cx="1600200" cy="96012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5486400" y="1143000"/>
            <a:ext cx="1600200" cy="347472"/>
          </a:xfrm>
          <a:prstGeom prst="rect">
            <a:avLst/>
          </a:prstGeom>
          <a:solidFill>
            <a:srgbClr val="F4A261"/>
          </a:solidFill>
          <a:ln/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8192" y="1188720"/>
            <a:ext cx="347472" cy="256032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5532120" y="1508760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Siêu âm</a:t>
            </a:r>
            <a:endParaRPr lang="en-US" sz="850" dirty="0"/>
          </a:p>
        </p:txBody>
      </p:sp>
      <p:sp>
        <p:nvSpPr>
          <p:cNvPr id="42" name="Text 32"/>
          <p:cNvSpPr/>
          <p:nvPr/>
        </p:nvSpPr>
        <p:spPr>
          <a:xfrm>
            <a:off x="5486400" y="1947672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GPIO14</a:t>
            </a:r>
            <a:endParaRPr lang="en-US" sz="750" dirty="0"/>
          </a:p>
        </p:txBody>
      </p:sp>
      <p:sp>
        <p:nvSpPr>
          <p:cNvPr id="43" name="Shape 33"/>
          <p:cNvSpPr/>
          <p:nvPr/>
        </p:nvSpPr>
        <p:spPr>
          <a:xfrm>
            <a:off x="5486400" y="3429000"/>
            <a:ext cx="1600200" cy="96012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34"/>
          <p:cNvSpPr/>
          <p:nvPr/>
        </p:nvSpPr>
        <p:spPr>
          <a:xfrm>
            <a:off x="5486400" y="3429000"/>
            <a:ext cx="1600200" cy="347472"/>
          </a:xfrm>
          <a:prstGeom prst="rect">
            <a:avLst/>
          </a:prstGeom>
          <a:solidFill>
            <a:srgbClr val="F4A261"/>
          </a:solidFill>
          <a:ln/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08192" y="3474720"/>
            <a:ext cx="347472" cy="256032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5532120" y="3794760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</a:t>
            </a:r>
            <a:endParaRPr lang="en-US" sz="850" dirty="0"/>
          </a:p>
        </p:txBody>
      </p:sp>
      <p:sp>
        <p:nvSpPr>
          <p:cNvPr id="47" name="Text 36"/>
          <p:cNvSpPr/>
          <p:nvPr/>
        </p:nvSpPr>
        <p:spPr>
          <a:xfrm>
            <a:off x="5486400" y="4233672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GPIO4</a:t>
            </a:r>
            <a:endParaRPr lang="en-US" sz="750" dirty="0"/>
          </a:p>
        </p:txBody>
      </p:sp>
      <p:sp>
        <p:nvSpPr>
          <p:cNvPr id="48" name="Shape 37"/>
          <p:cNvSpPr/>
          <p:nvPr/>
        </p:nvSpPr>
        <p:spPr>
          <a:xfrm>
            <a:off x="1737360" y="1828800"/>
            <a:ext cx="1737360" cy="502920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</p:sp>
      <p:sp>
        <p:nvSpPr>
          <p:cNvPr id="49" name="Shape 38"/>
          <p:cNvSpPr/>
          <p:nvPr/>
        </p:nvSpPr>
        <p:spPr>
          <a:xfrm>
            <a:off x="1737360" y="3657600"/>
            <a:ext cx="1737360" cy="-704088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</p:sp>
      <p:sp>
        <p:nvSpPr>
          <p:cNvPr id="50" name="Shape 39"/>
          <p:cNvSpPr/>
          <p:nvPr/>
        </p:nvSpPr>
        <p:spPr>
          <a:xfrm>
            <a:off x="777240" y="2331720"/>
            <a:ext cx="26974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</p:sp>
      <p:sp>
        <p:nvSpPr>
          <p:cNvPr id="51" name="Shape 40"/>
          <p:cNvSpPr/>
          <p:nvPr/>
        </p:nvSpPr>
        <p:spPr>
          <a:xfrm>
            <a:off x="777240" y="3703320"/>
            <a:ext cx="2697480" cy="-1115568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</p:sp>
      <p:sp>
        <p:nvSpPr>
          <p:cNvPr id="52" name="Shape 41"/>
          <p:cNvSpPr/>
          <p:nvPr/>
        </p:nvSpPr>
        <p:spPr>
          <a:xfrm>
            <a:off x="5669280" y="1627632"/>
            <a:ext cx="1463040" cy="402336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</p:sp>
      <p:sp>
        <p:nvSpPr>
          <p:cNvPr id="53" name="Shape 42"/>
          <p:cNvSpPr/>
          <p:nvPr/>
        </p:nvSpPr>
        <p:spPr>
          <a:xfrm>
            <a:off x="5669280" y="3913632"/>
            <a:ext cx="1463040" cy="-777240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– SƠ ĐỒ TUẦN TỰ: GIÁM SÁT MÔI TRƯỜNG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-45720" y="1143000"/>
            <a:ext cx="1005840" cy="502920"/>
          </a:xfrm>
          <a:prstGeom prst="rect">
            <a:avLst/>
          </a:prstGeom>
          <a:solidFill>
            <a:srgbClr val="38B00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-45720" y="116128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 / MQ-2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0" cy="3429000"/>
          </a:xfrm>
          <a:prstGeom prst="line">
            <a:avLst/>
          </a:prstGeom>
          <a:noFill/>
          <a:ln w="12700">
            <a:solidFill>
              <a:srgbClr val="38B000"/>
            </a:solidFill>
            <a:prstDash val="sysDash"/>
          </a:ln>
        </p:spPr>
      </p:sp>
      <p:sp>
        <p:nvSpPr>
          <p:cNvPr id="8" name="Shape 6"/>
          <p:cNvSpPr/>
          <p:nvPr/>
        </p:nvSpPr>
        <p:spPr>
          <a:xfrm>
            <a:off x="1783080" y="1143000"/>
            <a:ext cx="1005840" cy="502920"/>
          </a:xfrm>
          <a:prstGeom prst="rect">
            <a:avLst/>
          </a:prstGeom>
          <a:solidFill>
            <a:srgbClr val="0077B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83080" y="116128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ESP8266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86000" y="1645920"/>
            <a:ext cx="0" cy="3429000"/>
          </a:xfrm>
          <a:prstGeom prst="line">
            <a:avLst/>
          </a:prstGeom>
          <a:noFill/>
          <a:ln w="12700">
            <a:solidFill>
              <a:srgbClr val="0077B6"/>
            </a:solidFill>
            <a:prstDash val="sysDash"/>
          </a:ln>
        </p:spPr>
      </p:sp>
      <p:sp>
        <p:nvSpPr>
          <p:cNvPr id="11" name="Shape 9"/>
          <p:cNvSpPr/>
          <p:nvPr/>
        </p:nvSpPr>
        <p:spPr>
          <a:xfrm>
            <a:off x="3611880" y="1143000"/>
            <a:ext cx="1005840" cy="502920"/>
          </a:xfrm>
          <a:prstGeom prst="rect">
            <a:avLst/>
          </a:prstGeom>
          <a:solidFill>
            <a:srgbClr val="7B2D8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11880" y="116128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114800" y="1645920"/>
            <a:ext cx="0" cy="3429000"/>
          </a:xfrm>
          <a:prstGeom prst="line">
            <a:avLst/>
          </a:prstGeom>
          <a:noFill/>
          <a:ln w="12700">
            <a:solidFill>
              <a:srgbClr val="7B2D8B"/>
            </a:solidFill>
            <a:prstDash val="sysDash"/>
          </a:ln>
        </p:spPr>
      </p:sp>
      <p:sp>
        <p:nvSpPr>
          <p:cNvPr id="14" name="Shape 12"/>
          <p:cNvSpPr/>
          <p:nvPr/>
        </p:nvSpPr>
        <p:spPr>
          <a:xfrm>
            <a:off x="5440680" y="1143000"/>
            <a:ext cx="1005840" cy="502920"/>
          </a:xfrm>
          <a:prstGeom prst="rect">
            <a:avLst/>
          </a:prstGeom>
          <a:solidFill>
            <a:srgbClr val="E85D0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40680" y="116128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943600" y="1645920"/>
            <a:ext cx="0" cy="3429000"/>
          </a:xfrm>
          <a:prstGeom prst="line">
            <a:avLst/>
          </a:prstGeom>
          <a:noFill/>
          <a:ln w="12700">
            <a:solidFill>
              <a:srgbClr val="E85D04"/>
            </a:solidFill>
            <a:prstDash val="sysDash"/>
          </a:ln>
        </p:spPr>
      </p:sp>
      <p:sp>
        <p:nvSpPr>
          <p:cNvPr id="17" name="Shape 15"/>
          <p:cNvSpPr/>
          <p:nvPr/>
        </p:nvSpPr>
        <p:spPr>
          <a:xfrm>
            <a:off x="7269480" y="1143000"/>
            <a:ext cx="1005840" cy="50292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69480" y="116128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772400" y="1645920"/>
            <a:ext cx="0" cy="3429000"/>
          </a:xfrm>
          <a:prstGeom prst="line">
            <a:avLst/>
          </a:prstGeom>
          <a:noFill/>
          <a:ln w="12700">
            <a:solidFill>
              <a:srgbClr val="00B4D8"/>
            </a:solidFill>
            <a:prstDash val="sysDash"/>
          </a:ln>
        </p:spPr>
      </p:sp>
      <p:sp>
        <p:nvSpPr>
          <p:cNvPr id="20" name="Shape 18"/>
          <p:cNvSpPr/>
          <p:nvPr/>
        </p:nvSpPr>
        <p:spPr>
          <a:xfrm>
            <a:off x="457200" y="2011680"/>
            <a:ext cx="1828800" cy="0"/>
          </a:xfrm>
          <a:prstGeom prst="line">
            <a:avLst/>
          </a:prstGeom>
          <a:noFill/>
          <a:ln w="19050">
            <a:solidFill>
              <a:srgbClr val="38B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18562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Gửi dữ liệu (temp, humidity, gas)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286000" y="2468880"/>
            <a:ext cx="1828800" cy="0"/>
          </a:xfrm>
          <a:prstGeom prst="line">
            <a:avLst/>
          </a:prstGeom>
          <a:noFill/>
          <a:ln w="19050">
            <a:solidFill>
              <a:srgbClr val="0077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0" y="23134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POST /api/sensor-data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114800" y="2926080"/>
            <a:ext cx="1828800" cy="0"/>
          </a:xfrm>
          <a:prstGeom prst="line">
            <a:avLst/>
          </a:prstGeom>
          <a:noFill/>
          <a:ln w="19050">
            <a:solidFill>
              <a:srgbClr val="7B2D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0" y="27706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INSERT INTO sensor_data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943600" y="3291840"/>
            <a:ext cx="-1828800" cy="0"/>
          </a:xfrm>
          <a:prstGeom prst="line">
            <a:avLst/>
          </a:prstGeom>
          <a:noFill/>
          <a:ln w="19050">
            <a:solidFill>
              <a:srgbClr val="E85D04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4114800" y="31363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OK (200)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114800" y="3657600"/>
            <a:ext cx="-1828800" cy="0"/>
          </a:xfrm>
          <a:prstGeom prst="line">
            <a:avLst/>
          </a:prstGeom>
          <a:noFill/>
          <a:ln w="19050">
            <a:solidFill>
              <a:srgbClr val="7B2D8B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2286000" y="35021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Response saved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772400" y="4023360"/>
            <a:ext cx="-18288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0" y="38679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SELECT latest WHERE room_id=X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943600" y="4389120"/>
            <a:ext cx="1828800" cy="0"/>
          </a:xfrm>
          <a:prstGeom prst="line">
            <a:avLst/>
          </a:prstGeom>
          <a:noFill/>
          <a:ln w="19050">
            <a:solidFill>
              <a:srgbClr val="E85D04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5943600" y="42336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Return sensor row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498080" y="4617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8. Hiển thị realtime + kiểm tra ngưỡng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– THIẾT KẾ GIAO DIỆN NGƯỜI DÙNG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" y="1170432"/>
            <a:ext cx="4206240" cy="374904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170432"/>
            <a:ext cx="4206240" cy="4389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1887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– CHỦ NHÀ TRỌ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1719072"/>
            <a:ext cx="960120" cy="777240"/>
          </a:xfrm>
          <a:prstGeom prst="rect">
            <a:avLst/>
          </a:prstGeom>
          <a:solidFill>
            <a:srgbClr val="0077B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" y="173736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56032" y="210312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phòng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phòng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280160" y="1719072"/>
            <a:ext cx="960120" cy="777240"/>
          </a:xfrm>
          <a:prstGeom prst="rect">
            <a:avLst/>
          </a:prstGeom>
          <a:solidFill>
            <a:srgbClr val="2B934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280160" y="173736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210312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Đang thuê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phòng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304288" y="1719072"/>
            <a:ext cx="960120" cy="777240"/>
          </a:xfrm>
          <a:prstGeom prst="rect">
            <a:avLst/>
          </a:prstGeom>
          <a:solidFill>
            <a:srgbClr val="D6282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304288" y="173736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304288" y="210312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 cố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328416" y="1719072"/>
            <a:ext cx="960120" cy="777240"/>
          </a:xfrm>
          <a:prstGeom prst="rect">
            <a:avLst/>
          </a:prstGeom>
          <a:solidFill>
            <a:srgbClr val="E85D0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28416" y="173736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18M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328416" y="210312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VNĐ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56032" y="2606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Trạng thái phòng: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6032" y="2880360"/>
            <a:ext cx="896112" cy="384048"/>
          </a:xfrm>
          <a:prstGeom prst="roundRect">
            <a:avLst>
              <a:gd name="adj" fmla="val 11905"/>
            </a:avLst>
          </a:prstGeom>
          <a:solidFill>
            <a:srgbClr val="2B9348"/>
          </a:solidFill>
          <a:ln/>
        </p:spPr>
      </p:sp>
      <p:sp>
        <p:nvSpPr>
          <p:cNvPr id="22" name="Text 20"/>
          <p:cNvSpPr/>
          <p:nvPr/>
        </p:nvSpPr>
        <p:spPr>
          <a:xfrm>
            <a:off x="256032" y="2898648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P.01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261872" y="2880360"/>
            <a:ext cx="896112" cy="384048"/>
          </a:xfrm>
          <a:prstGeom prst="roundRect">
            <a:avLst>
              <a:gd name="adj" fmla="val 11905"/>
            </a:avLst>
          </a:prstGeom>
          <a:solidFill>
            <a:srgbClr val="2B9348"/>
          </a:solidFill>
          <a:ln/>
        </p:spPr>
      </p:sp>
      <p:sp>
        <p:nvSpPr>
          <p:cNvPr id="24" name="Text 22"/>
          <p:cNvSpPr/>
          <p:nvPr/>
        </p:nvSpPr>
        <p:spPr>
          <a:xfrm>
            <a:off x="1261872" y="2898648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P.02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67712" y="2880360"/>
            <a:ext cx="896112" cy="384048"/>
          </a:xfrm>
          <a:prstGeom prst="roundRect">
            <a:avLst>
              <a:gd name="adj" fmla="val 11905"/>
            </a:avLst>
          </a:prstGeom>
          <a:solidFill>
            <a:srgbClr val="D62828"/>
          </a:solidFill>
          <a:ln/>
        </p:spPr>
      </p:sp>
      <p:sp>
        <p:nvSpPr>
          <p:cNvPr id="26" name="Text 24"/>
          <p:cNvSpPr/>
          <p:nvPr/>
        </p:nvSpPr>
        <p:spPr>
          <a:xfrm>
            <a:off x="2267712" y="2898648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P.03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73552" y="2880360"/>
            <a:ext cx="896112" cy="384048"/>
          </a:xfrm>
          <a:prstGeom prst="roundRect">
            <a:avLst>
              <a:gd name="adj" fmla="val 11905"/>
            </a:avLst>
          </a:prstGeom>
          <a:solidFill>
            <a:srgbClr val="2B9348"/>
          </a:solidFill>
          <a:ln/>
        </p:spPr>
      </p:sp>
      <p:sp>
        <p:nvSpPr>
          <p:cNvPr id="28" name="Text 26"/>
          <p:cNvSpPr/>
          <p:nvPr/>
        </p:nvSpPr>
        <p:spPr>
          <a:xfrm>
            <a:off x="3273552" y="2898648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P.04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6032" y="3383280"/>
            <a:ext cx="896112" cy="384048"/>
          </a:xfrm>
          <a:prstGeom prst="roundRect">
            <a:avLst>
              <a:gd name="adj" fmla="val 11905"/>
            </a:avLst>
          </a:prstGeom>
          <a:solidFill>
            <a:srgbClr val="2B9348"/>
          </a:solidFill>
          <a:ln/>
        </p:spPr>
      </p:sp>
      <p:sp>
        <p:nvSpPr>
          <p:cNvPr id="30" name="Text 28"/>
          <p:cNvSpPr/>
          <p:nvPr/>
        </p:nvSpPr>
        <p:spPr>
          <a:xfrm>
            <a:off x="256032" y="3401568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P.05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261872" y="3383280"/>
            <a:ext cx="896112" cy="384048"/>
          </a:xfrm>
          <a:prstGeom prst="roundRect">
            <a:avLst>
              <a:gd name="adj" fmla="val 11905"/>
            </a:avLst>
          </a:prstGeom>
          <a:solidFill>
            <a:srgbClr val="F4A261"/>
          </a:solidFill>
          <a:ln/>
        </p:spPr>
      </p:sp>
      <p:sp>
        <p:nvSpPr>
          <p:cNvPr id="32" name="Text 30"/>
          <p:cNvSpPr/>
          <p:nvPr/>
        </p:nvSpPr>
        <p:spPr>
          <a:xfrm>
            <a:off x="1261872" y="3401568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P.06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67712" y="3383280"/>
            <a:ext cx="896112" cy="384048"/>
          </a:xfrm>
          <a:prstGeom prst="roundRect">
            <a:avLst>
              <a:gd name="adj" fmla="val 11905"/>
            </a:avLst>
          </a:prstGeom>
          <a:solidFill>
            <a:srgbClr val="2B9348"/>
          </a:solidFill>
          <a:ln/>
        </p:spPr>
      </p:sp>
      <p:sp>
        <p:nvSpPr>
          <p:cNvPr id="34" name="Text 32"/>
          <p:cNvSpPr/>
          <p:nvPr/>
        </p:nvSpPr>
        <p:spPr>
          <a:xfrm>
            <a:off x="2267712" y="3401568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P.07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73552" y="3383280"/>
            <a:ext cx="896112" cy="384048"/>
          </a:xfrm>
          <a:prstGeom prst="roundRect">
            <a:avLst>
              <a:gd name="adj" fmla="val 11905"/>
            </a:avLst>
          </a:prstGeom>
          <a:solidFill>
            <a:srgbClr val="2B9348"/>
          </a:solidFill>
          <a:ln/>
        </p:spPr>
      </p:sp>
      <p:sp>
        <p:nvSpPr>
          <p:cNvPr id="36" name="Text 34"/>
          <p:cNvSpPr/>
          <p:nvPr/>
        </p:nvSpPr>
        <p:spPr>
          <a:xfrm>
            <a:off x="3273552" y="3401568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P.08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56032" y="3886200"/>
            <a:ext cx="896112" cy="384048"/>
          </a:xfrm>
          <a:prstGeom prst="roundRect">
            <a:avLst>
              <a:gd name="adj" fmla="val 11905"/>
            </a:avLst>
          </a:prstGeom>
          <a:solidFill>
            <a:srgbClr val="D62828"/>
          </a:solidFill>
          <a:ln/>
        </p:spPr>
      </p:sp>
      <p:sp>
        <p:nvSpPr>
          <p:cNvPr id="38" name="Text 36"/>
          <p:cNvSpPr/>
          <p:nvPr/>
        </p:nvSpPr>
        <p:spPr>
          <a:xfrm>
            <a:off x="256032" y="3904488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P.09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261872" y="3886200"/>
            <a:ext cx="896112" cy="384048"/>
          </a:xfrm>
          <a:prstGeom prst="roundRect">
            <a:avLst>
              <a:gd name="adj" fmla="val 11905"/>
            </a:avLst>
          </a:prstGeom>
          <a:solidFill>
            <a:srgbClr val="2B9348"/>
          </a:solidFill>
          <a:ln/>
        </p:spPr>
      </p:sp>
      <p:sp>
        <p:nvSpPr>
          <p:cNvPr id="40" name="Text 38"/>
          <p:cNvSpPr/>
          <p:nvPr/>
        </p:nvSpPr>
        <p:spPr>
          <a:xfrm>
            <a:off x="1261872" y="3904488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267712" y="3886200"/>
            <a:ext cx="896112" cy="384048"/>
          </a:xfrm>
          <a:prstGeom prst="roundRect">
            <a:avLst>
              <a:gd name="adj" fmla="val 11905"/>
            </a:avLst>
          </a:prstGeom>
          <a:solidFill>
            <a:srgbClr val="F4A261"/>
          </a:solidFill>
          <a:ln/>
        </p:spPr>
      </p:sp>
      <p:sp>
        <p:nvSpPr>
          <p:cNvPr id="42" name="Text 40"/>
          <p:cNvSpPr/>
          <p:nvPr/>
        </p:nvSpPr>
        <p:spPr>
          <a:xfrm>
            <a:off x="2267712" y="3904488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P.11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73552" y="3886200"/>
            <a:ext cx="896112" cy="384048"/>
          </a:xfrm>
          <a:prstGeom prst="roundRect">
            <a:avLst>
              <a:gd name="adj" fmla="val 11905"/>
            </a:avLst>
          </a:prstGeom>
          <a:solidFill>
            <a:srgbClr val="2B9348"/>
          </a:solidFill>
          <a:ln/>
        </p:spPr>
      </p:sp>
      <p:sp>
        <p:nvSpPr>
          <p:cNvPr id="44" name="Text 42"/>
          <p:cNvSpPr/>
          <p:nvPr/>
        </p:nvSpPr>
        <p:spPr>
          <a:xfrm>
            <a:off x="3273552" y="3904488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P.12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56032" y="4526280"/>
            <a:ext cx="201168" cy="201168"/>
          </a:xfrm>
          <a:prstGeom prst="rect">
            <a:avLst/>
          </a:prstGeom>
          <a:solidFill>
            <a:srgbClr val="2B9348"/>
          </a:solidFill>
          <a:ln/>
        </p:spPr>
      </p:sp>
      <p:sp>
        <p:nvSpPr>
          <p:cNvPr id="46" name="Text 44"/>
          <p:cNvSpPr/>
          <p:nvPr/>
        </p:nvSpPr>
        <p:spPr>
          <a:xfrm>
            <a:off x="502920" y="451713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Đang thuê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508760" y="4526280"/>
            <a:ext cx="201168" cy="20116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8" name="Text 46"/>
          <p:cNvSpPr/>
          <p:nvPr/>
        </p:nvSpPr>
        <p:spPr>
          <a:xfrm>
            <a:off x="1755648" y="4517136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Trống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468880" y="4526280"/>
            <a:ext cx="201168" cy="201168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50" name="Text 48"/>
          <p:cNvSpPr/>
          <p:nvPr/>
        </p:nvSpPr>
        <p:spPr>
          <a:xfrm>
            <a:off x="2715768" y="451713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663440" y="1170432"/>
            <a:ext cx="4297680" cy="374904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663440" y="1170432"/>
            <a:ext cx="4297680" cy="43891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53" name="Text 51"/>
          <p:cNvSpPr/>
          <p:nvPr/>
        </p:nvSpPr>
        <p:spPr>
          <a:xfrm>
            <a:off x="4709160" y="118872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– KHÁCH THUÊ PHÒNG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736592" y="1719072"/>
            <a:ext cx="196596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736592" y="1719072"/>
            <a:ext cx="54864" cy="896112"/>
          </a:xfrm>
          <a:prstGeom prst="rect">
            <a:avLst/>
          </a:prstGeom>
          <a:solidFill>
            <a:srgbClr val="38B000"/>
          </a:solidFill>
          <a:ln/>
        </p:spPr>
      </p:sp>
      <p:pic>
        <p:nvPicPr>
          <p:cNvPr id="5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920240"/>
            <a:ext cx="365760" cy="365760"/>
          </a:xfrm>
          <a:prstGeom prst="rect">
            <a:avLst/>
          </a:prstGeom>
        </p:spPr>
      </p:pic>
      <p:sp>
        <p:nvSpPr>
          <p:cNvPr id="57" name="Text 54"/>
          <p:cNvSpPr/>
          <p:nvPr/>
        </p:nvSpPr>
        <p:spPr>
          <a:xfrm>
            <a:off x="5285232" y="1792224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Nhiệt độ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285232" y="2029968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28.5°C</a:t>
            </a:r>
            <a:endParaRPr lang="en-US" sz="1400" dirty="0"/>
          </a:p>
        </p:txBody>
      </p:sp>
      <p:sp>
        <p:nvSpPr>
          <p:cNvPr id="59" name="Shape 56"/>
          <p:cNvSpPr/>
          <p:nvPr/>
        </p:nvSpPr>
        <p:spPr>
          <a:xfrm>
            <a:off x="6062472" y="2313432"/>
            <a:ext cx="566928" cy="201168"/>
          </a:xfrm>
          <a:prstGeom prst="rect">
            <a:avLst/>
          </a:prstGeom>
          <a:solidFill>
            <a:srgbClr val="2B9348"/>
          </a:solidFill>
          <a:ln/>
        </p:spPr>
      </p:sp>
      <p:sp>
        <p:nvSpPr>
          <p:cNvPr id="60" name="Text 57"/>
          <p:cNvSpPr/>
          <p:nvPr/>
        </p:nvSpPr>
        <p:spPr>
          <a:xfrm>
            <a:off x="6062472" y="2322576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650" dirty="0"/>
          </a:p>
        </p:txBody>
      </p:sp>
      <p:sp>
        <p:nvSpPr>
          <p:cNvPr id="61" name="Shape 58"/>
          <p:cNvSpPr/>
          <p:nvPr/>
        </p:nvSpPr>
        <p:spPr>
          <a:xfrm>
            <a:off x="6858000" y="1719072"/>
            <a:ext cx="196596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2" name="Shape 59"/>
          <p:cNvSpPr/>
          <p:nvPr/>
        </p:nvSpPr>
        <p:spPr>
          <a:xfrm>
            <a:off x="6858000" y="1719072"/>
            <a:ext cx="54864" cy="896112"/>
          </a:xfrm>
          <a:prstGeom prst="rect">
            <a:avLst/>
          </a:prstGeom>
          <a:solidFill>
            <a:srgbClr val="0096C7"/>
          </a:solidFill>
          <a:ln/>
        </p:spPr>
      </p:sp>
      <p:pic>
        <p:nvPicPr>
          <p:cNvPr id="6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1920240"/>
            <a:ext cx="365760" cy="365760"/>
          </a:xfrm>
          <a:prstGeom prst="rect">
            <a:avLst/>
          </a:prstGeom>
        </p:spPr>
      </p:pic>
      <p:sp>
        <p:nvSpPr>
          <p:cNvPr id="64" name="Text 60"/>
          <p:cNvSpPr/>
          <p:nvPr/>
        </p:nvSpPr>
        <p:spPr>
          <a:xfrm>
            <a:off x="7406640" y="1792224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ẩm</a:t>
            </a:r>
            <a:endParaRPr lang="en-US" sz="850" dirty="0"/>
          </a:p>
        </p:txBody>
      </p:sp>
      <p:sp>
        <p:nvSpPr>
          <p:cNvPr id="65" name="Text 61"/>
          <p:cNvSpPr/>
          <p:nvPr/>
        </p:nvSpPr>
        <p:spPr>
          <a:xfrm>
            <a:off x="7406640" y="2029968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400" dirty="0"/>
          </a:p>
        </p:txBody>
      </p:sp>
      <p:sp>
        <p:nvSpPr>
          <p:cNvPr id="66" name="Shape 62"/>
          <p:cNvSpPr/>
          <p:nvPr/>
        </p:nvSpPr>
        <p:spPr>
          <a:xfrm>
            <a:off x="8183880" y="2313432"/>
            <a:ext cx="566928" cy="201168"/>
          </a:xfrm>
          <a:prstGeom prst="rect">
            <a:avLst/>
          </a:prstGeom>
          <a:solidFill>
            <a:srgbClr val="2B9348"/>
          </a:solidFill>
          <a:ln/>
        </p:spPr>
      </p:sp>
      <p:sp>
        <p:nvSpPr>
          <p:cNvPr id="67" name="Text 63"/>
          <p:cNvSpPr/>
          <p:nvPr/>
        </p:nvSpPr>
        <p:spPr>
          <a:xfrm>
            <a:off x="8183880" y="2322576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650" dirty="0"/>
          </a:p>
        </p:txBody>
      </p:sp>
      <p:sp>
        <p:nvSpPr>
          <p:cNvPr id="68" name="Shape 64"/>
          <p:cNvSpPr/>
          <p:nvPr/>
        </p:nvSpPr>
        <p:spPr>
          <a:xfrm>
            <a:off x="4736592" y="2724912"/>
            <a:ext cx="196596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9" name="Shape 65"/>
          <p:cNvSpPr/>
          <p:nvPr/>
        </p:nvSpPr>
        <p:spPr>
          <a:xfrm>
            <a:off x="4736592" y="2724912"/>
            <a:ext cx="54864" cy="896112"/>
          </a:xfrm>
          <a:prstGeom prst="rect">
            <a:avLst/>
          </a:prstGeom>
          <a:solidFill>
            <a:srgbClr val="D62828"/>
          </a:solidFill>
          <a:ln/>
        </p:spPr>
      </p:sp>
      <p:pic>
        <p:nvPicPr>
          <p:cNvPr id="7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926080"/>
            <a:ext cx="365760" cy="365760"/>
          </a:xfrm>
          <a:prstGeom prst="rect">
            <a:avLst/>
          </a:prstGeom>
        </p:spPr>
      </p:pic>
      <p:sp>
        <p:nvSpPr>
          <p:cNvPr id="71" name="Text 66"/>
          <p:cNvSpPr/>
          <p:nvPr/>
        </p:nvSpPr>
        <p:spPr>
          <a:xfrm>
            <a:off x="5285232" y="2798064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Khí Gas</a:t>
            </a:r>
            <a:endParaRPr lang="en-US" sz="850" dirty="0"/>
          </a:p>
        </p:txBody>
      </p:sp>
      <p:sp>
        <p:nvSpPr>
          <p:cNvPr id="72" name="Text 67"/>
          <p:cNvSpPr/>
          <p:nvPr/>
        </p:nvSpPr>
        <p:spPr>
          <a:xfrm>
            <a:off x="5285232" y="3035808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ppm</a:t>
            </a:r>
            <a:endParaRPr lang="en-US" sz="1400" dirty="0"/>
          </a:p>
        </p:txBody>
      </p:sp>
      <p:sp>
        <p:nvSpPr>
          <p:cNvPr id="73" name="Shape 68"/>
          <p:cNvSpPr/>
          <p:nvPr/>
        </p:nvSpPr>
        <p:spPr>
          <a:xfrm>
            <a:off x="6062472" y="3319272"/>
            <a:ext cx="566928" cy="201168"/>
          </a:xfrm>
          <a:prstGeom prst="rect">
            <a:avLst/>
          </a:prstGeom>
          <a:solidFill>
            <a:srgbClr val="2B9348"/>
          </a:solidFill>
          <a:ln/>
        </p:spPr>
      </p:sp>
      <p:sp>
        <p:nvSpPr>
          <p:cNvPr id="74" name="Text 69"/>
          <p:cNvSpPr/>
          <p:nvPr/>
        </p:nvSpPr>
        <p:spPr>
          <a:xfrm>
            <a:off x="6062472" y="3328416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650" dirty="0"/>
          </a:p>
        </p:txBody>
      </p:sp>
      <p:sp>
        <p:nvSpPr>
          <p:cNvPr id="75" name="Shape 70"/>
          <p:cNvSpPr/>
          <p:nvPr/>
        </p:nvSpPr>
        <p:spPr>
          <a:xfrm>
            <a:off x="6858000" y="2724912"/>
            <a:ext cx="196596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6" name="Shape 71"/>
          <p:cNvSpPr/>
          <p:nvPr/>
        </p:nvSpPr>
        <p:spPr>
          <a:xfrm>
            <a:off x="6858000" y="2724912"/>
            <a:ext cx="54864" cy="896112"/>
          </a:xfrm>
          <a:prstGeom prst="rect">
            <a:avLst/>
          </a:prstGeom>
          <a:solidFill>
            <a:srgbClr val="E85D04"/>
          </a:solidFill>
          <a:ln/>
        </p:spPr>
      </p:sp>
      <p:pic>
        <p:nvPicPr>
          <p:cNvPr id="7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2926080"/>
            <a:ext cx="365760" cy="365760"/>
          </a:xfrm>
          <a:prstGeom prst="rect">
            <a:avLst/>
          </a:prstGeom>
        </p:spPr>
      </p:pic>
      <p:sp>
        <p:nvSpPr>
          <p:cNvPr id="78" name="Text 72"/>
          <p:cNvSpPr/>
          <p:nvPr/>
        </p:nvSpPr>
        <p:spPr>
          <a:xfrm>
            <a:off x="7406640" y="2798064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Điện năng</a:t>
            </a:r>
            <a:endParaRPr lang="en-US" sz="850" dirty="0"/>
          </a:p>
        </p:txBody>
      </p:sp>
      <p:sp>
        <p:nvSpPr>
          <p:cNvPr id="79" name="Text 73"/>
          <p:cNvSpPr/>
          <p:nvPr/>
        </p:nvSpPr>
        <p:spPr>
          <a:xfrm>
            <a:off x="7406640" y="3035808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 kWh</a:t>
            </a:r>
            <a:endParaRPr lang="en-US" sz="1400" dirty="0"/>
          </a:p>
        </p:txBody>
      </p:sp>
      <p:sp>
        <p:nvSpPr>
          <p:cNvPr id="80" name="Shape 74"/>
          <p:cNvSpPr/>
          <p:nvPr/>
        </p:nvSpPr>
        <p:spPr>
          <a:xfrm>
            <a:off x="8183880" y="3319272"/>
            <a:ext cx="566928" cy="201168"/>
          </a:xfrm>
          <a:prstGeom prst="rect">
            <a:avLst/>
          </a:prstGeom>
          <a:solidFill>
            <a:srgbClr val="2B9348"/>
          </a:solidFill>
          <a:ln/>
        </p:spPr>
      </p:sp>
      <p:sp>
        <p:nvSpPr>
          <p:cNvPr id="81" name="Text 75"/>
          <p:cNvSpPr/>
          <p:nvPr/>
        </p:nvSpPr>
        <p:spPr>
          <a:xfrm>
            <a:off x="8183880" y="3328416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650" dirty="0"/>
          </a:p>
        </p:txBody>
      </p:sp>
      <p:sp>
        <p:nvSpPr>
          <p:cNvPr id="82" name="Shape 76"/>
          <p:cNvSpPr/>
          <p:nvPr/>
        </p:nvSpPr>
        <p:spPr>
          <a:xfrm>
            <a:off x="4736592" y="3730752"/>
            <a:ext cx="196596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3" name="Shape 77"/>
          <p:cNvSpPr/>
          <p:nvPr/>
        </p:nvSpPr>
        <p:spPr>
          <a:xfrm>
            <a:off x="4736592" y="3730752"/>
            <a:ext cx="54864" cy="896112"/>
          </a:xfrm>
          <a:prstGeom prst="rect">
            <a:avLst/>
          </a:prstGeom>
          <a:solidFill>
            <a:srgbClr val="0096C7"/>
          </a:solidFill>
          <a:ln/>
        </p:spPr>
      </p:sp>
      <p:pic>
        <p:nvPicPr>
          <p:cNvPr id="8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931920"/>
            <a:ext cx="365760" cy="365760"/>
          </a:xfrm>
          <a:prstGeom prst="rect">
            <a:avLst/>
          </a:prstGeom>
        </p:spPr>
      </p:pic>
      <p:sp>
        <p:nvSpPr>
          <p:cNvPr id="85" name="Text 78"/>
          <p:cNvSpPr/>
          <p:nvPr/>
        </p:nvSpPr>
        <p:spPr>
          <a:xfrm>
            <a:off x="5285232" y="3803904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Nước tiêu thụ</a:t>
            </a:r>
            <a:endParaRPr lang="en-US" sz="850" dirty="0"/>
          </a:p>
        </p:txBody>
      </p:sp>
      <p:sp>
        <p:nvSpPr>
          <p:cNvPr id="86" name="Text 79"/>
          <p:cNvSpPr/>
          <p:nvPr/>
        </p:nvSpPr>
        <p:spPr>
          <a:xfrm>
            <a:off x="5285232" y="4041648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 m³</a:t>
            </a:r>
            <a:endParaRPr lang="en-US" sz="1400" dirty="0"/>
          </a:p>
        </p:txBody>
      </p:sp>
      <p:sp>
        <p:nvSpPr>
          <p:cNvPr id="87" name="Shape 80"/>
          <p:cNvSpPr/>
          <p:nvPr/>
        </p:nvSpPr>
        <p:spPr>
          <a:xfrm>
            <a:off x="6062472" y="4325112"/>
            <a:ext cx="566928" cy="201168"/>
          </a:xfrm>
          <a:prstGeom prst="rect">
            <a:avLst/>
          </a:prstGeom>
          <a:solidFill>
            <a:srgbClr val="2B9348"/>
          </a:solidFill>
          <a:ln/>
        </p:spPr>
      </p:sp>
      <p:sp>
        <p:nvSpPr>
          <p:cNvPr id="88" name="Text 81"/>
          <p:cNvSpPr/>
          <p:nvPr/>
        </p:nvSpPr>
        <p:spPr>
          <a:xfrm>
            <a:off x="6062472" y="4334256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650" dirty="0"/>
          </a:p>
        </p:txBody>
      </p:sp>
      <p:sp>
        <p:nvSpPr>
          <p:cNvPr id="89" name="Shape 82"/>
          <p:cNvSpPr/>
          <p:nvPr/>
        </p:nvSpPr>
        <p:spPr>
          <a:xfrm>
            <a:off x="6858000" y="3730752"/>
            <a:ext cx="196596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0" name="Shape 83"/>
          <p:cNvSpPr/>
          <p:nvPr/>
        </p:nvSpPr>
        <p:spPr>
          <a:xfrm>
            <a:off x="6858000" y="3730752"/>
            <a:ext cx="54864" cy="896112"/>
          </a:xfrm>
          <a:prstGeom prst="rect">
            <a:avLst/>
          </a:prstGeom>
          <a:solidFill>
            <a:srgbClr val="7B2D8B"/>
          </a:solidFill>
          <a:ln/>
        </p:spPr>
      </p:sp>
      <p:pic>
        <p:nvPicPr>
          <p:cNvPr id="9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7728" y="3931920"/>
            <a:ext cx="365760" cy="365760"/>
          </a:xfrm>
          <a:prstGeom prst="rect">
            <a:avLst/>
          </a:prstGeom>
        </p:spPr>
      </p:pic>
      <p:sp>
        <p:nvSpPr>
          <p:cNvPr id="92" name="Text 84"/>
          <p:cNvSpPr/>
          <p:nvPr/>
        </p:nvSpPr>
        <p:spPr>
          <a:xfrm>
            <a:off x="7406640" y="3803904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Trạng thái cửa</a:t>
            </a:r>
            <a:endParaRPr lang="en-US" sz="850" dirty="0"/>
          </a:p>
        </p:txBody>
      </p:sp>
      <p:sp>
        <p:nvSpPr>
          <p:cNvPr id="93" name="Text 85"/>
          <p:cNvSpPr/>
          <p:nvPr/>
        </p:nvSpPr>
        <p:spPr>
          <a:xfrm>
            <a:off x="7406640" y="4041648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400" dirty="0"/>
          </a:p>
        </p:txBody>
      </p:sp>
      <p:sp>
        <p:nvSpPr>
          <p:cNvPr id="94" name="Shape 86"/>
          <p:cNvSpPr/>
          <p:nvPr/>
        </p:nvSpPr>
        <p:spPr>
          <a:xfrm>
            <a:off x="8183880" y="4325112"/>
            <a:ext cx="566928" cy="201168"/>
          </a:xfrm>
          <a:prstGeom prst="rect">
            <a:avLst/>
          </a:prstGeom>
          <a:solidFill>
            <a:srgbClr val="2B9348"/>
          </a:solidFill>
          <a:ln/>
        </p:spPr>
      </p:sp>
      <p:sp>
        <p:nvSpPr>
          <p:cNvPr id="95" name="Text 87"/>
          <p:cNvSpPr/>
          <p:nvPr/>
        </p:nvSpPr>
        <p:spPr>
          <a:xfrm>
            <a:off x="8183880" y="4334256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– THIẾT KẾ CƠ SỞ DỮ LIỆU (MySQL)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1188720"/>
            <a:ext cx="2103120" cy="2212848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188720"/>
            <a:ext cx="2103120" cy="438912"/>
          </a:xfrm>
          <a:prstGeom prst="rect">
            <a:avLst/>
          </a:prstGeom>
          <a:solidFill>
            <a:srgbClr val="0077B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" y="1280160"/>
            <a:ext cx="274320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1261872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82880" y="1664208"/>
            <a:ext cx="210312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228600" y="169164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</a:t>
            </a:r>
            <a:pPr indent="0" marL="0">
              <a:buNone/>
            </a:pPr>
            <a:r>
              <a:rPr lang="en-US" sz="9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463040" y="169164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82880" y="1938528"/>
            <a:ext cx="2103120" cy="256032"/>
          </a:xfrm>
          <a:prstGeom prst="rect">
            <a:avLst/>
          </a:prstGeom>
          <a:solidFill>
            <a:srgbClr val="EAF4FF"/>
          </a:solidFill>
          <a:ln/>
        </p:spPr>
      </p:sp>
      <p:sp>
        <p:nvSpPr>
          <p:cNvPr id="13" name="Text 10"/>
          <p:cNvSpPr/>
          <p:nvPr/>
        </p:nvSpPr>
        <p:spPr>
          <a:xfrm>
            <a:off x="228600" y="196596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full_name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463040" y="196596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VARCHAR(100)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182880" y="2212848"/>
            <a:ext cx="210312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228600" y="224028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463040" y="224028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VARCHAR(100)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82880" y="2487168"/>
            <a:ext cx="2103120" cy="256032"/>
          </a:xfrm>
          <a:prstGeom prst="rect">
            <a:avLst/>
          </a:prstGeom>
          <a:solidFill>
            <a:srgbClr val="EAF4FF"/>
          </a:solidFill>
          <a:ln/>
        </p:spPr>
      </p:sp>
      <p:sp>
        <p:nvSpPr>
          <p:cNvPr id="19" name="Text 16"/>
          <p:cNvSpPr/>
          <p:nvPr/>
        </p:nvSpPr>
        <p:spPr>
          <a:xfrm>
            <a:off x="228600" y="251460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463040" y="251460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VARCHAR(255)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182880" y="2761488"/>
            <a:ext cx="210312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228600" y="278892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463040" y="278892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VARCHAR(20)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182880" y="3035808"/>
            <a:ext cx="2103120" cy="256032"/>
          </a:xfrm>
          <a:prstGeom prst="rect">
            <a:avLst/>
          </a:prstGeom>
          <a:solidFill>
            <a:srgbClr val="EAF4FF"/>
          </a:solidFill>
          <a:ln/>
        </p:spPr>
      </p:sp>
      <p:sp>
        <p:nvSpPr>
          <p:cNvPr id="25" name="Text 22"/>
          <p:cNvSpPr/>
          <p:nvPr/>
        </p:nvSpPr>
        <p:spPr>
          <a:xfrm>
            <a:off x="228600" y="306324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</a:t>
            </a:r>
            <a:pPr indent="0" marL="0">
              <a:buNone/>
            </a:pPr>
            <a:r>
              <a:rPr lang="en-US" sz="9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room_id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463040" y="306324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2468880" y="1188720"/>
            <a:ext cx="2103120" cy="1664208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2468880" y="1188720"/>
            <a:ext cx="2103120" cy="438912"/>
          </a:xfrm>
          <a:prstGeom prst="rect">
            <a:avLst/>
          </a:prstGeom>
          <a:solidFill>
            <a:srgbClr val="38B000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744" y="1280160"/>
            <a:ext cx="274320" cy="256032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2852928" y="1261872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2468880" y="1664208"/>
            <a:ext cx="210312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8"/>
          <p:cNvSpPr/>
          <p:nvPr/>
        </p:nvSpPr>
        <p:spPr>
          <a:xfrm>
            <a:off x="2514600" y="169164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</a:t>
            </a:r>
            <a:pPr indent="0" marL="0">
              <a:buNone/>
            </a:pPr>
            <a:r>
              <a:rPr lang="en-US" sz="900" b="1" dirty="0">
                <a:solidFill>
                  <a:srgbClr val="38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room_id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3749040" y="169164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2468880" y="1938528"/>
            <a:ext cx="2103120" cy="256032"/>
          </a:xfrm>
          <a:prstGeom prst="rect">
            <a:avLst/>
          </a:prstGeom>
          <a:solidFill>
            <a:srgbClr val="EAF4FF"/>
          </a:solidFill>
          <a:ln/>
        </p:spPr>
      </p:sp>
      <p:sp>
        <p:nvSpPr>
          <p:cNvPr id="35" name="Text 31"/>
          <p:cNvSpPr/>
          <p:nvPr/>
        </p:nvSpPr>
        <p:spPr>
          <a:xfrm>
            <a:off x="2514600" y="196596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room_name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3749040" y="196596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VARCHAR(50)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2468880" y="2212848"/>
            <a:ext cx="210312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4"/>
          <p:cNvSpPr/>
          <p:nvPr/>
        </p:nvSpPr>
        <p:spPr>
          <a:xfrm>
            <a:off x="2514600" y="224028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3749040" y="224028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VARCHAR(20)</a:t>
            </a:r>
            <a:endParaRPr lang="en-US" sz="800" dirty="0"/>
          </a:p>
        </p:txBody>
      </p:sp>
      <p:sp>
        <p:nvSpPr>
          <p:cNvPr id="40" name="Shape 36"/>
          <p:cNvSpPr/>
          <p:nvPr/>
        </p:nvSpPr>
        <p:spPr>
          <a:xfrm>
            <a:off x="2468880" y="2487168"/>
            <a:ext cx="2103120" cy="256032"/>
          </a:xfrm>
          <a:prstGeom prst="rect">
            <a:avLst/>
          </a:prstGeom>
          <a:solidFill>
            <a:srgbClr val="EAF4FF"/>
          </a:solidFill>
          <a:ln/>
        </p:spPr>
      </p:sp>
      <p:sp>
        <p:nvSpPr>
          <p:cNvPr id="41" name="Text 37"/>
          <p:cNvSpPr/>
          <p:nvPr/>
        </p:nvSpPr>
        <p:spPr>
          <a:xfrm>
            <a:off x="2514600" y="251460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3749040" y="251460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800" dirty="0"/>
          </a:p>
        </p:txBody>
      </p:sp>
      <p:sp>
        <p:nvSpPr>
          <p:cNvPr id="43" name="Shape 39"/>
          <p:cNvSpPr/>
          <p:nvPr/>
        </p:nvSpPr>
        <p:spPr>
          <a:xfrm>
            <a:off x="4754880" y="1188720"/>
            <a:ext cx="2103120" cy="3584448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0"/>
          <p:cNvSpPr/>
          <p:nvPr/>
        </p:nvSpPr>
        <p:spPr>
          <a:xfrm>
            <a:off x="4754880" y="1188720"/>
            <a:ext cx="2103120" cy="438912"/>
          </a:xfrm>
          <a:prstGeom prst="rect">
            <a:avLst/>
          </a:prstGeom>
          <a:solidFill>
            <a:srgbClr val="E85D04"/>
          </a:solidFill>
          <a:ln/>
        </p:spPr>
      </p:sp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1280160"/>
            <a:ext cx="274320" cy="256032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5138928" y="1261872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sensor_data</a:t>
            </a:r>
            <a:endParaRPr lang="en-US" sz="1300" dirty="0"/>
          </a:p>
        </p:txBody>
      </p:sp>
      <p:sp>
        <p:nvSpPr>
          <p:cNvPr id="47" name="Shape 42"/>
          <p:cNvSpPr/>
          <p:nvPr/>
        </p:nvSpPr>
        <p:spPr>
          <a:xfrm>
            <a:off x="4754880" y="1664208"/>
            <a:ext cx="210312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3"/>
          <p:cNvSpPr/>
          <p:nvPr/>
        </p:nvSpPr>
        <p:spPr>
          <a:xfrm>
            <a:off x="4800600" y="169164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</a:t>
            </a:r>
            <a:pPr indent="0" marL="0">
              <a:buNone/>
            </a:pPr>
            <a:r>
              <a:rPr lang="en-US" sz="9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sensor_id</a:t>
            </a:r>
            <a:endParaRPr lang="en-US" sz="900" dirty="0"/>
          </a:p>
        </p:txBody>
      </p:sp>
      <p:sp>
        <p:nvSpPr>
          <p:cNvPr id="49" name="Text 44"/>
          <p:cNvSpPr/>
          <p:nvPr/>
        </p:nvSpPr>
        <p:spPr>
          <a:xfrm>
            <a:off x="6035040" y="169164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00" dirty="0"/>
          </a:p>
        </p:txBody>
      </p:sp>
      <p:sp>
        <p:nvSpPr>
          <p:cNvPr id="50" name="Shape 45"/>
          <p:cNvSpPr/>
          <p:nvPr/>
        </p:nvSpPr>
        <p:spPr>
          <a:xfrm>
            <a:off x="4754880" y="1938528"/>
            <a:ext cx="2103120" cy="256032"/>
          </a:xfrm>
          <a:prstGeom prst="rect">
            <a:avLst/>
          </a:prstGeom>
          <a:solidFill>
            <a:srgbClr val="EAF4FF"/>
          </a:solidFill>
          <a:ln/>
        </p:spPr>
      </p:sp>
      <p:sp>
        <p:nvSpPr>
          <p:cNvPr id="51" name="Text 46"/>
          <p:cNvSpPr/>
          <p:nvPr/>
        </p:nvSpPr>
        <p:spPr>
          <a:xfrm>
            <a:off x="4800600" y="196596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</a:t>
            </a:r>
            <a:pPr indent="0" marL="0">
              <a:buNone/>
            </a:pPr>
            <a:r>
              <a:rPr lang="en-US" sz="9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room_id</a:t>
            </a:r>
            <a:endParaRPr lang="en-US" sz="900" dirty="0"/>
          </a:p>
        </p:txBody>
      </p:sp>
      <p:sp>
        <p:nvSpPr>
          <p:cNvPr id="52" name="Text 47"/>
          <p:cNvSpPr/>
          <p:nvPr/>
        </p:nvSpPr>
        <p:spPr>
          <a:xfrm>
            <a:off x="6035040" y="196596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00" dirty="0"/>
          </a:p>
        </p:txBody>
      </p:sp>
      <p:sp>
        <p:nvSpPr>
          <p:cNvPr id="53" name="Shape 48"/>
          <p:cNvSpPr/>
          <p:nvPr/>
        </p:nvSpPr>
        <p:spPr>
          <a:xfrm>
            <a:off x="4754880" y="2212848"/>
            <a:ext cx="210312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49"/>
          <p:cNvSpPr/>
          <p:nvPr/>
        </p:nvSpPr>
        <p:spPr>
          <a:xfrm>
            <a:off x="4800600" y="224028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900" dirty="0"/>
          </a:p>
        </p:txBody>
      </p:sp>
      <p:sp>
        <p:nvSpPr>
          <p:cNvPr id="55" name="Text 50"/>
          <p:cNvSpPr/>
          <p:nvPr/>
        </p:nvSpPr>
        <p:spPr>
          <a:xfrm>
            <a:off x="6035040" y="224028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800" dirty="0"/>
          </a:p>
        </p:txBody>
      </p:sp>
      <p:sp>
        <p:nvSpPr>
          <p:cNvPr id="56" name="Shape 51"/>
          <p:cNvSpPr/>
          <p:nvPr/>
        </p:nvSpPr>
        <p:spPr>
          <a:xfrm>
            <a:off x="4754880" y="2487168"/>
            <a:ext cx="2103120" cy="256032"/>
          </a:xfrm>
          <a:prstGeom prst="rect">
            <a:avLst/>
          </a:prstGeom>
          <a:solidFill>
            <a:srgbClr val="EAF4FF"/>
          </a:solidFill>
          <a:ln/>
        </p:spPr>
      </p:sp>
      <p:sp>
        <p:nvSpPr>
          <p:cNvPr id="57" name="Text 52"/>
          <p:cNvSpPr/>
          <p:nvPr/>
        </p:nvSpPr>
        <p:spPr>
          <a:xfrm>
            <a:off x="4800600" y="251460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endParaRPr lang="en-US" sz="900" dirty="0"/>
          </a:p>
        </p:txBody>
      </p:sp>
      <p:sp>
        <p:nvSpPr>
          <p:cNvPr id="58" name="Text 53"/>
          <p:cNvSpPr/>
          <p:nvPr/>
        </p:nvSpPr>
        <p:spPr>
          <a:xfrm>
            <a:off x="6035040" y="251460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800" dirty="0"/>
          </a:p>
        </p:txBody>
      </p:sp>
      <p:sp>
        <p:nvSpPr>
          <p:cNvPr id="59" name="Shape 54"/>
          <p:cNvSpPr/>
          <p:nvPr/>
        </p:nvSpPr>
        <p:spPr>
          <a:xfrm>
            <a:off x="4754880" y="2761488"/>
            <a:ext cx="210312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5"/>
          <p:cNvSpPr/>
          <p:nvPr/>
        </p:nvSpPr>
        <p:spPr>
          <a:xfrm>
            <a:off x="4800600" y="278892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gas_value</a:t>
            </a:r>
            <a:endParaRPr lang="en-US" sz="900" dirty="0"/>
          </a:p>
        </p:txBody>
      </p:sp>
      <p:sp>
        <p:nvSpPr>
          <p:cNvPr id="61" name="Text 56"/>
          <p:cNvSpPr/>
          <p:nvPr/>
        </p:nvSpPr>
        <p:spPr>
          <a:xfrm>
            <a:off x="6035040" y="278892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754880" y="3035808"/>
            <a:ext cx="2103120" cy="256032"/>
          </a:xfrm>
          <a:prstGeom prst="rect">
            <a:avLst/>
          </a:prstGeom>
          <a:solidFill>
            <a:srgbClr val="EAF4FF"/>
          </a:solidFill>
          <a:ln/>
        </p:spPr>
      </p:sp>
      <p:sp>
        <p:nvSpPr>
          <p:cNvPr id="63" name="Text 58"/>
          <p:cNvSpPr/>
          <p:nvPr/>
        </p:nvSpPr>
        <p:spPr>
          <a:xfrm>
            <a:off x="4800600" y="306324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</a:t>
            </a:r>
            <a:endParaRPr lang="en-US" sz="900" dirty="0"/>
          </a:p>
        </p:txBody>
      </p:sp>
      <p:sp>
        <p:nvSpPr>
          <p:cNvPr id="64" name="Text 59"/>
          <p:cNvSpPr/>
          <p:nvPr/>
        </p:nvSpPr>
        <p:spPr>
          <a:xfrm>
            <a:off x="6035040" y="306324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800" dirty="0"/>
          </a:p>
        </p:txBody>
      </p:sp>
      <p:sp>
        <p:nvSpPr>
          <p:cNvPr id="65" name="Shape 60"/>
          <p:cNvSpPr/>
          <p:nvPr/>
        </p:nvSpPr>
        <p:spPr>
          <a:xfrm>
            <a:off x="4754880" y="3310128"/>
            <a:ext cx="210312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Text 61"/>
          <p:cNvSpPr/>
          <p:nvPr/>
        </p:nvSpPr>
        <p:spPr>
          <a:xfrm>
            <a:off x="4800600" y="333756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900" dirty="0"/>
          </a:p>
        </p:txBody>
      </p:sp>
      <p:sp>
        <p:nvSpPr>
          <p:cNvPr id="67" name="Text 62"/>
          <p:cNvSpPr/>
          <p:nvPr/>
        </p:nvSpPr>
        <p:spPr>
          <a:xfrm>
            <a:off x="6035040" y="333756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800" dirty="0"/>
          </a:p>
        </p:txBody>
      </p:sp>
      <p:sp>
        <p:nvSpPr>
          <p:cNvPr id="68" name="Shape 63"/>
          <p:cNvSpPr/>
          <p:nvPr/>
        </p:nvSpPr>
        <p:spPr>
          <a:xfrm>
            <a:off x="4754880" y="3584448"/>
            <a:ext cx="2103120" cy="256032"/>
          </a:xfrm>
          <a:prstGeom prst="rect">
            <a:avLst/>
          </a:prstGeom>
          <a:solidFill>
            <a:srgbClr val="EAF4FF"/>
          </a:solidFill>
          <a:ln/>
        </p:spPr>
      </p:sp>
      <p:sp>
        <p:nvSpPr>
          <p:cNvPr id="69" name="Text 64"/>
          <p:cNvSpPr/>
          <p:nvPr/>
        </p:nvSpPr>
        <p:spPr>
          <a:xfrm>
            <a:off x="4800600" y="361188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900" dirty="0"/>
          </a:p>
        </p:txBody>
      </p:sp>
      <p:sp>
        <p:nvSpPr>
          <p:cNvPr id="70" name="Text 65"/>
          <p:cNvSpPr/>
          <p:nvPr/>
        </p:nvSpPr>
        <p:spPr>
          <a:xfrm>
            <a:off x="6035040" y="361188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800" dirty="0"/>
          </a:p>
        </p:txBody>
      </p:sp>
      <p:sp>
        <p:nvSpPr>
          <p:cNvPr id="71" name="Shape 66"/>
          <p:cNvSpPr/>
          <p:nvPr/>
        </p:nvSpPr>
        <p:spPr>
          <a:xfrm>
            <a:off x="4754880" y="3858768"/>
            <a:ext cx="210312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Text 67"/>
          <p:cNvSpPr/>
          <p:nvPr/>
        </p:nvSpPr>
        <p:spPr>
          <a:xfrm>
            <a:off x="4800600" y="388620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900" dirty="0"/>
          </a:p>
        </p:txBody>
      </p:sp>
      <p:sp>
        <p:nvSpPr>
          <p:cNvPr id="73" name="Text 68"/>
          <p:cNvSpPr/>
          <p:nvPr/>
        </p:nvSpPr>
        <p:spPr>
          <a:xfrm>
            <a:off x="6035040" y="388620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800" dirty="0"/>
          </a:p>
        </p:txBody>
      </p:sp>
      <p:sp>
        <p:nvSpPr>
          <p:cNvPr id="74" name="Shape 69"/>
          <p:cNvSpPr/>
          <p:nvPr/>
        </p:nvSpPr>
        <p:spPr>
          <a:xfrm>
            <a:off x="4754880" y="4133088"/>
            <a:ext cx="2103120" cy="256032"/>
          </a:xfrm>
          <a:prstGeom prst="rect">
            <a:avLst/>
          </a:prstGeom>
          <a:solidFill>
            <a:srgbClr val="EAF4FF"/>
          </a:solidFill>
          <a:ln/>
        </p:spPr>
      </p:sp>
      <p:sp>
        <p:nvSpPr>
          <p:cNvPr id="75" name="Text 70"/>
          <p:cNvSpPr/>
          <p:nvPr/>
        </p:nvSpPr>
        <p:spPr>
          <a:xfrm>
            <a:off x="4800600" y="416052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water_flow</a:t>
            </a:r>
            <a:endParaRPr lang="en-US" sz="900" dirty="0"/>
          </a:p>
        </p:txBody>
      </p:sp>
      <p:sp>
        <p:nvSpPr>
          <p:cNvPr id="76" name="Text 71"/>
          <p:cNvSpPr/>
          <p:nvPr/>
        </p:nvSpPr>
        <p:spPr>
          <a:xfrm>
            <a:off x="6035040" y="416052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800" dirty="0"/>
          </a:p>
        </p:txBody>
      </p:sp>
      <p:sp>
        <p:nvSpPr>
          <p:cNvPr id="77" name="Shape 72"/>
          <p:cNvSpPr/>
          <p:nvPr/>
        </p:nvSpPr>
        <p:spPr>
          <a:xfrm>
            <a:off x="4754880" y="4407408"/>
            <a:ext cx="210312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Text 73"/>
          <p:cNvSpPr/>
          <p:nvPr/>
        </p:nvSpPr>
        <p:spPr>
          <a:xfrm>
            <a:off x="4800600" y="443484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total_water</a:t>
            </a:r>
            <a:endParaRPr lang="en-US" sz="900" dirty="0"/>
          </a:p>
        </p:txBody>
      </p:sp>
      <p:sp>
        <p:nvSpPr>
          <p:cNvPr id="79" name="Text 74"/>
          <p:cNvSpPr/>
          <p:nvPr/>
        </p:nvSpPr>
        <p:spPr>
          <a:xfrm>
            <a:off x="6035040" y="443484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800" dirty="0"/>
          </a:p>
        </p:txBody>
      </p:sp>
      <p:sp>
        <p:nvSpPr>
          <p:cNvPr id="80" name="Shape 75"/>
          <p:cNvSpPr/>
          <p:nvPr/>
        </p:nvSpPr>
        <p:spPr>
          <a:xfrm>
            <a:off x="7040880" y="1188720"/>
            <a:ext cx="2103120" cy="2761488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1" name="Shape 76"/>
          <p:cNvSpPr/>
          <p:nvPr/>
        </p:nvSpPr>
        <p:spPr>
          <a:xfrm>
            <a:off x="7040880" y="1188720"/>
            <a:ext cx="2103120" cy="438912"/>
          </a:xfrm>
          <a:prstGeom prst="rect">
            <a:avLst/>
          </a:prstGeom>
          <a:solidFill>
            <a:srgbClr val="7B2D8B"/>
          </a:solidFill>
          <a:ln/>
        </p:spPr>
      </p:sp>
      <p:pic>
        <p:nvPicPr>
          <p:cNvPr id="8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744" y="1280160"/>
            <a:ext cx="274320" cy="256032"/>
          </a:xfrm>
          <a:prstGeom prst="rect">
            <a:avLst/>
          </a:prstGeom>
        </p:spPr>
      </p:pic>
      <p:sp>
        <p:nvSpPr>
          <p:cNvPr id="83" name="Text 77"/>
          <p:cNvSpPr/>
          <p:nvPr/>
        </p:nvSpPr>
        <p:spPr>
          <a:xfrm>
            <a:off x="7424928" y="1261872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300" dirty="0"/>
          </a:p>
        </p:txBody>
      </p:sp>
      <p:sp>
        <p:nvSpPr>
          <p:cNvPr id="84" name="Shape 78"/>
          <p:cNvSpPr/>
          <p:nvPr/>
        </p:nvSpPr>
        <p:spPr>
          <a:xfrm>
            <a:off x="7040880" y="1664208"/>
            <a:ext cx="210312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5" name="Text 79"/>
          <p:cNvSpPr/>
          <p:nvPr/>
        </p:nvSpPr>
        <p:spPr>
          <a:xfrm>
            <a:off x="7086600" y="169164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</a:t>
            </a:r>
            <a:pPr indent="0" marL="0">
              <a:buNone/>
            </a:pPr>
            <a:r>
              <a:rPr lang="en-US" sz="9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bill_id</a:t>
            </a:r>
            <a:endParaRPr lang="en-US" sz="900" dirty="0"/>
          </a:p>
        </p:txBody>
      </p:sp>
      <p:sp>
        <p:nvSpPr>
          <p:cNvPr id="86" name="Text 80"/>
          <p:cNvSpPr/>
          <p:nvPr/>
        </p:nvSpPr>
        <p:spPr>
          <a:xfrm>
            <a:off x="8321040" y="169164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00" dirty="0"/>
          </a:p>
        </p:txBody>
      </p:sp>
      <p:sp>
        <p:nvSpPr>
          <p:cNvPr id="87" name="Shape 81"/>
          <p:cNvSpPr/>
          <p:nvPr/>
        </p:nvSpPr>
        <p:spPr>
          <a:xfrm>
            <a:off x="7040880" y="1938528"/>
            <a:ext cx="2103120" cy="256032"/>
          </a:xfrm>
          <a:prstGeom prst="rect">
            <a:avLst/>
          </a:prstGeom>
          <a:solidFill>
            <a:srgbClr val="EAF4FF"/>
          </a:solidFill>
          <a:ln/>
        </p:spPr>
      </p:sp>
      <p:sp>
        <p:nvSpPr>
          <p:cNvPr id="88" name="Text 82"/>
          <p:cNvSpPr/>
          <p:nvPr/>
        </p:nvSpPr>
        <p:spPr>
          <a:xfrm>
            <a:off x="7086600" y="196596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</a:t>
            </a:r>
            <a:pPr indent="0" marL="0">
              <a:buNone/>
            </a:pPr>
            <a:r>
              <a:rPr lang="en-US" sz="9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room_id</a:t>
            </a:r>
            <a:endParaRPr lang="en-US" sz="900" dirty="0"/>
          </a:p>
        </p:txBody>
      </p:sp>
      <p:sp>
        <p:nvSpPr>
          <p:cNvPr id="89" name="Text 83"/>
          <p:cNvSpPr/>
          <p:nvPr/>
        </p:nvSpPr>
        <p:spPr>
          <a:xfrm>
            <a:off x="8321040" y="196596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00" dirty="0"/>
          </a:p>
        </p:txBody>
      </p:sp>
      <p:sp>
        <p:nvSpPr>
          <p:cNvPr id="90" name="Shape 84"/>
          <p:cNvSpPr/>
          <p:nvPr/>
        </p:nvSpPr>
        <p:spPr>
          <a:xfrm>
            <a:off x="7040880" y="2212848"/>
            <a:ext cx="210312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1" name="Text 85"/>
          <p:cNvSpPr/>
          <p:nvPr/>
        </p:nvSpPr>
        <p:spPr>
          <a:xfrm>
            <a:off x="7086600" y="224028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electric_usage</a:t>
            </a:r>
            <a:endParaRPr lang="en-US" sz="900" dirty="0"/>
          </a:p>
        </p:txBody>
      </p:sp>
      <p:sp>
        <p:nvSpPr>
          <p:cNvPr id="92" name="Text 86"/>
          <p:cNvSpPr/>
          <p:nvPr/>
        </p:nvSpPr>
        <p:spPr>
          <a:xfrm>
            <a:off x="8321040" y="224028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800" dirty="0"/>
          </a:p>
        </p:txBody>
      </p:sp>
      <p:sp>
        <p:nvSpPr>
          <p:cNvPr id="93" name="Shape 87"/>
          <p:cNvSpPr/>
          <p:nvPr/>
        </p:nvSpPr>
        <p:spPr>
          <a:xfrm>
            <a:off x="7040880" y="2487168"/>
            <a:ext cx="2103120" cy="256032"/>
          </a:xfrm>
          <a:prstGeom prst="rect">
            <a:avLst/>
          </a:prstGeom>
          <a:solidFill>
            <a:srgbClr val="EAF4FF"/>
          </a:solidFill>
          <a:ln/>
        </p:spPr>
      </p:sp>
      <p:sp>
        <p:nvSpPr>
          <p:cNvPr id="94" name="Text 88"/>
          <p:cNvSpPr/>
          <p:nvPr/>
        </p:nvSpPr>
        <p:spPr>
          <a:xfrm>
            <a:off x="7086600" y="251460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water_usage</a:t>
            </a:r>
            <a:endParaRPr lang="en-US" sz="900" dirty="0"/>
          </a:p>
        </p:txBody>
      </p:sp>
      <p:sp>
        <p:nvSpPr>
          <p:cNvPr id="95" name="Text 89"/>
          <p:cNvSpPr/>
          <p:nvPr/>
        </p:nvSpPr>
        <p:spPr>
          <a:xfrm>
            <a:off x="8321040" y="251460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800" dirty="0"/>
          </a:p>
        </p:txBody>
      </p:sp>
      <p:sp>
        <p:nvSpPr>
          <p:cNvPr id="96" name="Shape 90"/>
          <p:cNvSpPr/>
          <p:nvPr/>
        </p:nvSpPr>
        <p:spPr>
          <a:xfrm>
            <a:off x="7040880" y="2761488"/>
            <a:ext cx="210312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Text 91"/>
          <p:cNvSpPr/>
          <p:nvPr/>
        </p:nvSpPr>
        <p:spPr>
          <a:xfrm>
            <a:off x="7086600" y="278892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electric_cost</a:t>
            </a:r>
            <a:endParaRPr lang="en-US" sz="900" dirty="0"/>
          </a:p>
        </p:txBody>
      </p:sp>
      <p:sp>
        <p:nvSpPr>
          <p:cNvPr id="98" name="Text 92"/>
          <p:cNvSpPr/>
          <p:nvPr/>
        </p:nvSpPr>
        <p:spPr>
          <a:xfrm>
            <a:off x="8321040" y="278892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800" dirty="0"/>
          </a:p>
        </p:txBody>
      </p:sp>
      <p:sp>
        <p:nvSpPr>
          <p:cNvPr id="99" name="Shape 93"/>
          <p:cNvSpPr/>
          <p:nvPr/>
        </p:nvSpPr>
        <p:spPr>
          <a:xfrm>
            <a:off x="7040880" y="3035808"/>
            <a:ext cx="2103120" cy="256032"/>
          </a:xfrm>
          <a:prstGeom prst="rect">
            <a:avLst/>
          </a:prstGeom>
          <a:solidFill>
            <a:srgbClr val="EAF4FF"/>
          </a:solidFill>
          <a:ln/>
        </p:spPr>
      </p:sp>
      <p:sp>
        <p:nvSpPr>
          <p:cNvPr id="100" name="Text 94"/>
          <p:cNvSpPr/>
          <p:nvPr/>
        </p:nvSpPr>
        <p:spPr>
          <a:xfrm>
            <a:off x="7086600" y="306324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water_cost</a:t>
            </a:r>
            <a:endParaRPr lang="en-US" sz="900" dirty="0"/>
          </a:p>
        </p:txBody>
      </p:sp>
      <p:sp>
        <p:nvSpPr>
          <p:cNvPr id="101" name="Text 95"/>
          <p:cNvSpPr/>
          <p:nvPr/>
        </p:nvSpPr>
        <p:spPr>
          <a:xfrm>
            <a:off x="8321040" y="306324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800" dirty="0"/>
          </a:p>
        </p:txBody>
      </p:sp>
      <p:sp>
        <p:nvSpPr>
          <p:cNvPr id="102" name="Shape 96"/>
          <p:cNvSpPr/>
          <p:nvPr/>
        </p:nvSpPr>
        <p:spPr>
          <a:xfrm>
            <a:off x="7040880" y="3310128"/>
            <a:ext cx="210312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3" name="Text 97"/>
          <p:cNvSpPr/>
          <p:nvPr/>
        </p:nvSpPr>
        <p:spPr>
          <a:xfrm>
            <a:off x="7086600" y="333756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total_amount</a:t>
            </a:r>
            <a:endParaRPr lang="en-US" sz="900" dirty="0"/>
          </a:p>
        </p:txBody>
      </p:sp>
      <p:sp>
        <p:nvSpPr>
          <p:cNvPr id="104" name="Text 98"/>
          <p:cNvSpPr/>
          <p:nvPr/>
        </p:nvSpPr>
        <p:spPr>
          <a:xfrm>
            <a:off x="8321040" y="333756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800" dirty="0"/>
          </a:p>
        </p:txBody>
      </p:sp>
      <p:sp>
        <p:nvSpPr>
          <p:cNvPr id="105" name="Shape 99"/>
          <p:cNvSpPr/>
          <p:nvPr/>
        </p:nvSpPr>
        <p:spPr>
          <a:xfrm>
            <a:off x="7040880" y="3584448"/>
            <a:ext cx="2103120" cy="256032"/>
          </a:xfrm>
          <a:prstGeom prst="rect">
            <a:avLst/>
          </a:prstGeom>
          <a:solidFill>
            <a:srgbClr val="EAF4FF"/>
          </a:solidFill>
          <a:ln/>
        </p:spPr>
      </p:sp>
      <p:sp>
        <p:nvSpPr>
          <p:cNvPr id="106" name="Text 100"/>
          <p:cNvSpPr/>
          <p:nvPr/>
        </p:nvSpPr>
        <p:spPr>
          <a:xfrm>
            <a:off x="7086600" y="361188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billing_month</a:t>
            </a:r>
            <a:endParaRPr lang="en-US" sz="900" dirty="0"/>
          </a:p>
        </p:txBody>
      </p:sp>
      <p:sp>
        <p:nvSpPr>
          <p:cNvPr id="107" name="Text 101"/>
          <p:cNvSpPr/>
          <p:nvPr/>
        </p:nvSpPr>
        <p:spPr>
          <a:xfrm>
            <a:off x="8321040" y="361188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00" dirty="0"/>
          </a:p>
        </p:txBody>
      </p:sp>
      <p:sp>
        <p:nvSpPr>
          <p:cNvPr id="108" name="Text 102"/>
          <p:cNvSpPr/>
          <p:nvPr/>
        </p:nvSpPr>
        <p:spPr>
          <a:xfrm>
            <a:off x="182880" y="4846320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hệ FK: users.room_id → rooms.room_id  |  sensor_data.room_id → rooms.room_id  |  billing.room_id → rooms.room_id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4 – KẾT QUẢ &amp; THỰC NGHIỆM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1170432"/>
            <a:ext cx="5212080" cy="246888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170432"/>
            <a:ext cx="5212080" cy="41148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188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Phát hiện Rò rỉ Gas (Kịch bản 1)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664208"/>
            <a:ext cx="1005840" cy="42062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" y="1691640"/>
            <a:ext cx="950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Tình huống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252728" y="1664208"/>
            <a:ext cx="1005840" cy="42062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1691640"/>
            <a:ext cx="950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Thực tế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276856" y="1664208"/>
            <a:ext cx="1005840" cy="42062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3" name="Text 11"/>
          <p:cNvSpPr/>
          <p:nvPr/>
        </p:nvSpPr>
        <p:spPr>
          <a:xfrm>
            <a:off x="2304288" y="1691640"/>
            <a:ext cx="950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Ngưỡng Cố định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00984" y="1664208"/>
            <a:ext cx="1005840" cy="42062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3328416" y="1691640"/>
            <a:ext cx="950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Dự báo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325112" y="1664208"/>
            <a:ext cx="1005840" cy="42062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4352544" y="1691640"/>
            <a:ext cx="950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28600" y="2121408"/>
            <a:ext cx="1005840" cy="420624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19" name="Text 17"/>
          <p:cNvSpPr/>
          <p:nvPr/>
        </p:nvSpPr>
        <p:spPr>
          <a:xfrm>
            <a:off x="256032" y="2148840"/>
            <a:ext cx="950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Bình thường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252728" y="2121408"/>
            <a:ext cx="1005840" cy="420624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21" name="Text 19"/>
          <p:cNvSpPr/>
          <p:nvPr/>
        </p:nvSpPr>
        <p:spPr>
          <a:xfrm>
            <a:off x="1280160" y="2148840"/>
            <a:ext cx="950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76856" y="2121408"/>
            <a:ext cx="1005840" cy="420624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23" name="Text 21"/>
          <p:cNvSpPr/>
          <p:nvPr/>
        </p:nvSpPr>
        <p:spPr>
          <a:xfrm>
            <a:off x="2304288" y="2148840"/>
            <a:ext cx="950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báo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00984" y="2121408"/>
            <a:ext cx="1005840" cy="420624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25" name="Text 23"/>
          <p:cNvSpPr/>
          <p:nvPr/>
        </p:nvSpPr>
        <p:spPr>
          <a:xfrm>
            <a:off x="3328416" y="2148840"/>
            <a:ext cx="950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325112" y="2121408"/>
            <a:ext cx="1005840" cy="420624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27" name="Text 25"/>
          <p:cNvSpPr/>
          <p:nvPr/>
        </p:nvSpPr>
        <p:spPr>
          <a:xfrm>
            <a:off x="4352544" y="2148840"/>
            <a:ext cx="950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Đúng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8600" y="2578608"/>
            <a:ext cx="100584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256032" y="2606040"/>
            <a:ext cx="950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tăng nhẹ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252728" y="2578608"/>
            <a:ext cx="100584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280160" y="2606040"/>
            <a:ext cx="950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276856" y="2578608"/>
            <a:ext cx="100584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2304288" y="2606040"/>
            <a:ext cx="950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báo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300984" y="2578608"/>
            <a:ext cx="100584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3328416" y="2606040"/>
            <a:ext cx="950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325112" y="2578608"/>
            <a:ext cx="100584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4352544" y="2606040"/>
            <a:ext cx="950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AI cảnh báo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28600" y="3035808"/>
            <a:ext cx="1005840" cy="420624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39" name="Text 37"/>
          <p:cNvSpPr/>
          <p:nvPr/>
        </p:nvSpPr>
        <p:spPr>
          <a:xfrm>
            <a:off x="256032" y="3063240"/>
            <a:ext cx="950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Rò rỉ lớn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252728" y="3035808"/>
            <a:ext cx="1005840" cy="420624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41" name="Text 39"/>
          <p:cNvSpPr/>
          <p:nvPr/>
        </p:nvSpPr>
        <p:spPr>
          <a:xfrm>
            <a:off x="1280160" y="3063240"/>
            <a:ext cx="950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276856" y="3035808"/>
            <a:ext cx="1005840" cy="420624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43" name="Text 41"/>
          <p:cNvSpPr/>
          <p:nvPr/>
        </p:nvSpPr>
        <p:spPr>
          <a:xfrm>
            <a:off x="2304288" y="3063240"/>
            <a:ext cx="950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300984" y="3035808"/>
            <a:ext cx="1005840" cy="420624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45" name="Text 43"/>
          <p:cNvSpPr/>
          <p:nvPr/>
        </p:nvSpPr>
        <p:spPr>
          <a:xfrm>
            <a:off x="3328416" y="3063240"/>
            <a:ext cx="950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325112" y="3035808"/>
            <a:ext cx="1005840" cy="420624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47" name="Text 45"/>
          <p:cNvSpPr/>
          <p:nvPr/>
        </p:nvSpPr>
        <p:spPr>
          <a:xfrm>
            <a:off x="4352544" y="3063240"/>
            <a:ext cx="950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Cả 2 cảnh báo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82880" y="3749040"/>
            <a:ext cx="5212080" cy="1051560"/>
          </a:xfrm>
          <a:prstGeom prst="rect">
            <a:avLst/>
          </a:prstGeom>
          <a:solidFill>
            <a:srgbClr val="E8F4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82880" y="3749040"/>
            <a:ext cx="5212080" cy="384048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50" name="Text 48"/>
          <p:cNvSpPr/>
          <p:nvPr/>
        </p:nvSpPr>
        <p:spPr>
          <a:xfrm>
            <a:off x="228600" y="3767328"/>
            <a:ext cx="5120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quả Đo Điện – Nước (Kịch bản 2)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256032" y="4206240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chính xác PZEM-004T: 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số &lt; 1% so với đồng hồ cơ 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đáp ứng: 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bình 2–5 giây từ sensor đến Dashboard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577840" y="1170432"/>
            <a:ext cx="3383280" cy="363016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577840" y="1170432"/>
            <a:ext cx="3383280" cy="411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4" name="Text 52"/>
          <p:cNvSpPr/>
          <p:nvPr/>
        </p:nvSpPr>
        <p:spPr>
          <a:xfrm>
            <a:off x="5623560" y="1188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ĐỐI CHIẾU MỤC TIÊU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623560" y="1691640"/>
            <a:ext cx="457200" cy="384048"/>
          </a:xfrm>
          <a:prstGeom prst="rect">
            <a:avLst/>
          </a:prstGeom>
          <a:solidFill>
            <a:srgbClr val="2B9348"/>
          </a:solidFill>
          <a:ln/>
        </p:spPr>
      </p:sp>
      <p:sp>
        <p:nvSpPr>
          <p:cNvPr id="56" name="Text 54"/>
          <p:cNvSpPr/>
          <p:nvPr/>
        </p:nvSpPr>
        <p:spPr>
          <a:xfrm>
            <a:off x="5623560" y="17099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ĐẠT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144768" y="1691640"/>
            <a:ext cx="2724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Mạch IoT đo điện, nước, môi trường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623560" y="2212848"/>
            <a:ext cx="457200" cy="384048"/>
          </a:xfrm>
          <a:prstGeom prst="rect">
            <a:avLst/>
          </a:prstGeom>
          <a:solidFill>
            <a:srgbClr val="2B9348"/>
          </a:solidFill>
          <a:ln/>
        </p:spPr>
      </p:sp>
      <p:sp>
        <p:nvSpPr>
          <p:cNvPr id="59" name="Text 57"/>
          <p:cNvSpPr/>
          <p:nvPr/>
        </p:nvSpPr>
        <p:spPr>
          <a:xfrm>
            <a:off x="5623560" y="223113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ĐẠT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144768" y="2212848"/>
            <a:ext cx="2724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lưu trữ tập trung (MySQL + FastAPI)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623560" y="2734056"/>
            <a:ext cx="457200" cy="384048"/>
          </a:xfrm>
          <a:prstGeom prst="rect">
            <a:avLst/>
          </a:prstGeom>
          <a:solidFill>
            <a:srgbClr val="2B9348"/>
          </a:solidFill>
          <a:ln/>
        </p:spPr>
      </p:sp>
      <p:sp>
        <p:nvSpPr>
          <p:cNvPr id="62" name="Text 60"/>
          <p:cNvSpPr/>
          <p:nvPr/>
        </p:nvSpPr>
        <p:spPr>
          <a:xfrm>
            <a:off x="5623560" y="275234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ĐẠT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144768" y="2734056"/>
            <a:ext cx="2724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AI dự báo nồng độ Gas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623560" y="3255264"/>
            <a:ext cx="457200" cy="384048"/>
          </a:xfrm>
          <a:prstGeom prst="rect">
            <a:avLst/>
          </a:prstGeom>
          <a:solidFill>
            <a:srgbClr val="2B9348"/>
          </a:solidFill>
          <a:ln/>
        </p:spPr>
      </p:sp>
      <p:sp>
        <p:nvSpPr>
          <p:cNvPr id="65" name="Text 63"/>
          <p:cNvSpPr/>
          <p:nvPr/>
        </p:nvSpPr>
        <p:spPr>
          <a:xfrm>
            <a:off x="5623560" y="327355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ĐẠT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144768" y="3255264"/>
            <a:ext cx="2724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trực quan (Streamlit)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623560" y="3776472"/>
            <a:ext cx="457200" cy="384048"/>
          </a:xfrm>
          <a:prstGeom prst="rect">
            <a:avLst/>
          </a:prstGeom>
          <a:solidFill>
            <a:srgbClr val="2B9348"/>
          </a:solidFill>
          <a:ln/>
        </p:spPr>
      </p:sp>
      <p:sp>
        <p:nvSpPr>
          <p:cNvPr id="68" name="Text 66"/>
          <p:cNvSpPr/>
          <p:nvPr/>
        </p:nvSpPr>
        <p:spPr>
          <a:xfrm>
            <a:off x="5623560" y="37947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ĐẠT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144768" y="3776472"/>
            <a:ext cx="2724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khiển máy bơm tự động (HC-SR04)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5 – KẾT LUẬN &amp; HƯỚNG PHÁT TRIỂN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" y="1170432"/>
            <a:ext cx="4114800" cy="36576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170432"/>
            <a:ext cx="4114800" cy="438912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1887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HẠN CHẾ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719072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 bị ảnh hưởng bởi nhiệt độ &amp; độ ẩm cao → sai số AI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4320" y="2295144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có UPS dự phòng điện → ngừng khi mất điện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" y="287121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chỉ xử lý quan hệ tuyến tính đơn giản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4320" y="3447288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ứng dụng Deep Learning cho tiêu thụ điện nước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4320" y="402336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chưa có lớp bảo mật JWT/API Key → nguy cơ giả mạo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80560" y="1170432"/>
            <a:ext cx="4480560" cy="36576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80560" y="1170432"/>
            <a:ext cx="4480560" cy="43891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118872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HƯỚNG PHÁT TRIỂN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1719072"/>
            <a:ext cx="4297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Thanh toán online: </a:t>
            </a:r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cổng MoMo / ZaloPay tự động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0" y="2249424"/>
            <a:ext cx="4297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Mobile App: </a:t>
            </a:r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/ React Native + Push Notification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0" y="2779776"/>
            <a:ext cx="4297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AI nâng cao: </a:t>
            </a:r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/ LSTM dự báo tiêu thụ hàng tháng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0" y="3310128"/>
            <a:ext cx="4297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Nhận diện khuôn mặt: </a:t>
            </a:r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thế thẻ RFID bằng Face Recognition AI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0" y="3840480"/>
            <a:ext cx="4297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Edge Computing: </a:t>
            </a:r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AI tại Gateway – giảm tải server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0" y="4370832"/>
            <a:ext cx="4297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Bảo mật: </a:t>
            </a:r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+ HTTPS + API Key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1097280"/>
            <a:ext cx="4114800" cy="4114800"/>
          </a:xfrm>
          <a:prstGeom prst="ellipse">
            <a:avLst/>
          </a:prstGeom>
          <a:solidFill>
            <a:srgbClr val="0077B6">
              <a:alpha val="22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320040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XIN CẢM ƠN!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45720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8716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Hệ thống Nhà Trọ Thông Minh tích hợp IoT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09067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Minh Trí  –  MSSV: 21050007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24TH01  –  Khoa CNTT, Robot &amp; TTNT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85876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GVHD: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ThS. Dương Anh Tuấn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24281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Đại học Bình Dương, 2026</a:t>
            </a:r>
            <a:endParaRPr lang="en-US" sz="13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663440"/>
            <a:ext cx="457200" cy="45720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4663440"/>
            <a:ext cx="457200" cy="457200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4663440"/>
            <a:ext cx="457200" cy="457200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4663440"/>
            <a:ext cx="457200" cy="457200"/>
          </a:xfrm>
          <a:prstGeom prst="rect">
            <a:avLst/>
          </a:prstGeom>
        </p:spPr>
      </p:pic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520" y="46634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Hệ Thống Nhà Trọ Thông Minh</dc:title>
  <dc:subject>PptxGenJS Presentation</dc:subject>
  <dc:creator>Nguyễn Minh Trí</dc:creator>
  <cp:lastModifiedBy>Nguyễn Minh Trí</cp:lastModifiedBy>
  <cp:revision>1</cp:revision>
  <dcterms:created xsi:type="dcterms:W3CDTF">2026-05-20T07:11:01Z</dcterms:created>
  <dcterms:modified xsi:type="dcterms:W3CDTF">2026-05-20T07:11:01Z</dcterms:modified>
</cp:coreProperties>
</file>